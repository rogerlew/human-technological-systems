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63" r:id="rId3"/>
    <p:sldId id="328" r:id="rId4"/>
    <p:sldId id="261" r:id="rId5"/>
    <p:sldId id="284" r:id="rId6"/>
    <p:sldId id="329" r:id="rId7"/>
    <p:sldId id="330" r:id="rId8"/>
    <p:sldId id="302" r:id="rId9"/>
    <p:sldId id="262" r:id="rId10"/>
    <p:sldId id="333" r:id="rId11"/>
    <p:sldId id="337" r:id="rId12"/>
    <p:sldId id="319" r:id="rId13"/>
    <p:sldId id="264" r:id="rId14"/>
    <p:sldId id="266" r:id="rId15"/>
    <p:sldId id="320" r:id="rId16"/>
    <p:sldId id="334" r:id="rId17"/>
    <p:sldId id="269" r:id="rId18"/>
    <p:sldId id="270" r:id="rId19"/>
    <p:sldId id="271" r:id="rId20"/>
    <p:sldId id="343" r:id="rId21"/>
    <p:sldId id="345" r:id="rId22"/>
    <p:sldId id="344" r:id="rId23"/>
    <p:sldId id="347" r:id="rId24"/>
    <p:sldId id="348" r:id="rId25"/>
    <p:sldId id="350" r:id="rId26"/>
    <p:sldId id="346" r:id="rId27"/>
    <p:sldId id="368" r:id="rId28"/>
    <p:sldId id="335" r:id="rId29"/>
    <p:sldId id="281" r:id="rId30"/>
    <p:sldId id="272" r:id="rId31"/>
    <p:sldId id="286" r:id="rId32"/>
    <p:sldId id="273" r:id="rId33"/>
    <p:sldId id="321" r:id="rId34"/>
    <p:sldId id="303" r:id="rId35"/>
    <p:sldId id="275" r:id="rId36"/>
    <p:sldId id="322" r:id="rId37"/>
    <p:sldId id="278" r:id="rId38"/>
    <p:sldId id="283" r:id="rId39"/>
    <p:sldId id="339" r:id="rId40"/>
    <p:sldId id="287" r:id="rId41"/>
    <p:sldId id="357" r:id="rId42"/>
    <p:sldId id="358" r:id="rId43"/>
    <p:sldId id="360" r:id="rId44"/>
    <p:sldId id="361" r:id="rId45"/>
    <p:sldId id="299" r:id="rId46"/>
    <p:sldId id="306" r:id="rId47"/>
    <p:sldId id="307" r:id="rId48"/>
    <p:sldId id="340" r:id="rId49"/>
    <p:sldId id="365" r:id="rId50"/>
    <p:sldId id="362" r:id="rId51"/>
    <p:sldId id="304" r:id="rId52"/>
    <p:sldId id="364" r:id="rId53"/>
    <p:sldId id="341" r:id="rId54"/>
    <p:sldId id="305" r:id="rId55"/>
    <p:sldId id="359" r:id="rId56"/>
    <p:sldId id="342" r:id="rId57"/>
    <p:sldId id="314" r:id="rId58"/>
    <p:sldId id="315" r:id="rId59"/>
    <p:sldId id="316" r:id="rId60"/>
    <p:sldId id="317" r:id="rId61"/>
    <p:sldId id="318" r:id="rId62"/>
    <p:sldId id="289" r:id="rId63"/>
    <p:sldId id="288" r:id="rId64"/>
    <p:sldId id="291" r:id="rId65"/>
    <p:sldId id="276" r:id="rId66"/>
    <p:sldId id="323" r:id="rId67"/>
    <p:sldId id="325" r:id="rId68"/>
    <p:sldId id="277" r:id="rId69"/>
    <p:sldId id="310" r:id="rId70"/>
    <p:sldId id="292" r:id="rId71"/>
    <p:sldId id="311" r:id="rId72"/>
    <p:sldId id="308" r:id="rId73"/>
    <p:sldId id="351" r:id="rId74"/>
    <p:sldId id="285" r:id="rId75"/>
    <p:sldId id="353" r:id="rId76"/>
    <p:sldId id="354" r:id="rId77"/>
    <p:sldId id="355" r:id="rId78"/>
    <p:sldId id="356"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p:cViewPr varScale="1">
        <p:scale>
          <a:sx n="157" d="100"/>
          <a:sy n="157" d="100"/>
        </p:scale>
        <p:origin x="150"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734236-9ECB-4CFB-8D74-C3DA9E73AC3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D930765-9CCC-4C76-AB86-D40144DB4E64}">
      <dgm:prSet phldrT="[Text]"/>
      <dgm:spPr/>
      <dgm:t>
        <a:bodyPr/>
        <a:lstStyle/>
        <a:p>
          <a:r>
            <a:rPr lang="en-US" dirty="0"/>
            <a:t>System</a:t>
          </a:r>
        </a:p>
      </dgm:t>
    </dgm:pt>
    <dgm:pt modelId="{FC0D200C-D5CA-46F2-AFEA-F5ECC135B041}" type="parTrans" cxnId="{AABDB3EE-CBE6-433F-A91D-0477C090DA5C}">
      <dgm:prSet/>
      <dgm:spPr/>
      <dgm:t>
        <a:bodyPr/>
        <a:lstStyle/>
        <a:p>
          <a:endParaRPr lang="en-US"/>
        </a:p>
      </dgm:t>
    </dgm:pt>
    <dgm:pt modelId="{85A107A7-7111-42EE-8A48-3F53E838C12E}" type="sibTrans" cxnId="{AABDB3EE-CBE6-433F-A91D-0477C090DA5C}">
      <dgm:prSet/>
      <dgm:spPr/>
      <dgm:t>
        <a:bodyPr/>
        <a:lstStyle/>
        <a:p>
          <a:endParaRPr lang="en-US"/>
        </a:p>
      </dgm:t>
    </dgm:pt>
    <dgm:pt modelId="{8FBD2727-15F8-41CB-ADA2-8B3CB3AB4F9B}">
      <dgm:prSet phldrT="[Text]"/>
      <dgm:spPr/>
      <dgm:t>
        <a:bodyPr/>
        <a:lstStyle/>
        <a:p>
          <a:r>
            <a:rPr lang="en-US" dirty="0"/>
            <a:t>HRA</a:t>
          </a:r>
        </a:p>
      </dgm:t>
    </dgm:pt>
    <dgm:pt modelId="{B89971AD-70A8-4B77-A0D4-30674CC7BE46}" type="parTrans" cxnId="{07D5212D-EC7A-4130-9781-E12E6D8AD153}">
      <dgm:prSet/>
      <dgm:spPr/>
      <dgm:t>
        <a:bodyPr/>
        <a:lstStyle/>
        <a:p>
          <a:endParaRPr lang="en-US"/>
        </a:p>
      </dgm:t>
    </dgm:pt>
    <dgm:pt modelId="{765D3F16-0FAA-4D55-BA7B-37089FD6687A}" type="sibTrans" cxnId="{07D5212D-EC7A-4130-9781-E12E6D8AD153}">
      <dgm:prSet/>
      <dgm:spPr/>
      <dgm:t>
        <a:bodyPr/>
        <a:lstStyle/>
        <a:p>
          <a:endParaRPr lang="en-US"/>
        </a:p>
      </dgm:t>
    </dgm:pt>
    <dgm:pt modelId="{A33AD8E4-5AB6-4FFB-A2D5-02A8BA8D6330}">
      <dgm:prSet phldrT="[Text]"/>
      <dgm:spPr/>
      <dgm:t>
        <a:bodyPr/>
        <a:lstStyle/>
        <a:p>
          <a:r>
            <a:rPr lang="en-US" dirty="0"/>
            <a:t>Design</a:t>
          </a:r>
        </a:p>
      </dgm:t>
    </dgm:pt>
    <dgm:pt modelId="{1C5069CB-7B4E-4811-864D-3358C17B937B}" type="parTrans" cxnId="{505BDA50-712B-4363-BDE9-8B9AE2E9CA99}">
      <dgm:prSet/>
      <dgm:spPr/>
      <dgm:t>
        <a:bodyPr/>
        <a:lstStyle/>
        <a:p>
          <a:endParaRPr lang="en-US"/>
        </a:p>
      </dgm:t>
    </dgm:pt>
    <dgm:pt modelId="{3B02FA93-0920-4A6E-AD52-19FD734616B0}" type="sibTrans" cxnId="{505BDA50-712B-4363-BDE9-8B9AE2E9CA99}">
      <dgm:prSet/>
      <dgm:spPr/>
      <dgm:t>
        <a:bodyPr/>
        <a:lstStyle/>
        <a:p>
          <a:endParaRPr lang="en-US"/>
        </a:p>
      </dgm:t>
    </dgm:pt>
    <dgm:pt modelId="{680FB769-B3AA-4B84-BD5A-C5F3E8FD0181}">
      <dgm:prSet phldrT="[Text]"/>
      <dgm:spPr/>
      <dgm:t>
        <a:bodyPr/>
        <a:lstStyle/>
        <a:p>
          <a:r>
            <a:rPr lang="en-US"/>
            <a:t>Human </a:t>
          </a:r>
          <a:r>
            <a:rPr lang="en-US" dirty="0"/>
            <a:t>Factors</a:t>
          </a:r>
        </a:p>
      </dgm:t>
    </dgm:pt>
    <dgm:pt modelId="{6F5209B0-27EE-4FB6-BD17-B22486B1CBC8}" type="parTrans" cxnId="{D7ED94DD-C26F-413C-91BF-A39C8CC7CF70}">
      <dgm:prSet/>
      <dgm:spPr/>
      <dgm:t>
        <a:bodyPr/>
        <a:lstStyle/>
        <a:p>
          <a:endParaRPr lang="en-US"/>
        </a:p>
      </dgm:t>
    </dgm:pt>
    <dgm:pt modelId="{47E17CFB-C901-4190-A77B-0EE6ACB7928A}" type="sibTrans" cxnId="{D7ED94DD-C26F-413C-91BF-A39C8CC7CF70}">
      <dgm:prSet/>
      <dgm:spPr/>
      <dgm:t>
        <a:bodyPr/>
        <a:lstStyle/>
        <a:p>
          <a:endParaRPr lang="en-US"/>
        </a:p>
      </dgm:t>
    </dgm:pt>
    <dgm:pt modelId="{88859A74-4E59-42CF-B12F-7CE5E8359607}" type="pres">
      <dgm:prSet presAssocID="{7F734236-9ECB-4CFB-8D74-C3DA9E73AC33}" presName="cycle" presStyleCnt="0">
        <dgm:presLayoutVars>
          <dgm:dir/>
          <dgm:resizeHandles val="exact"/>
        </dgm:presLayoutVars>
      </dgm:prSet>
      <dgm:spPr/>
    </dgm:pt>
    <dgm:pt modelId="{1175C229-2D38-48B4-80F1-F586D38A94A7}" type="pres">
      <dgm:prSet presAssocID="{6D930765-9CCC-4C76-AB86-D40144DB4E64}" presName="node" presStyleLbl="node1" presStyleIdx="0" presStyleCnt="4">
        <dgm:presLayoutVars>
          <dgm:bulletEnabled val="1"/>
        </dgm:presLayoutVars>
      </dgm:prSet>
      <dgm:spPr/>
    </dgm:pt>
    <dgm:pt modelId="{3582FEF3-EDAB-4516-9934-25C15B441637}" type="pres">
      <dgm:prSet presAssocID="{85A107A7-7111-42EE-8A48-3F53E838C12E}" presName="sibTrans" presStyleLbl="sibTrans2D1" presStyleIdx="0" presStyleCnt="4"/>
      <dgm:spPr/>
    </dgm:pt>
    <dgm:pt modelId="{87BDD30D-1F46-435D-927C-0E0053A054DE}" type="pres">
      <dgm:prSet presAssocID="{85A107A7-7111-42EE-8A48-3F53E838C12E}" presName="connectorText" presStyleLbl="sibTrans2D1" presStyleIdx="0" presStyleCnt="4"/>
      <dgm:spPr/>
    </dgm:pt>
    <dgm:pt modelId="{6CA56BC6-25BB-4C76-83B9-B49917AFE35A}" type="pres">
      <dgm:prSet presAssocID="{680FB769-B3AA-4B84-BD5A-C5F3E8FD0181}" presName="node" presStyleLbl="node1" presStyleIdx="1" presStyleCnt="4">
        <dgm:presLayoutVars>
          <dgm:bulletEnabled val="1"/>
        </dgm:presLayoutVars>
      </dgm:prSet>
      <dgm:spPr/>
    </dgm:pt>
    <dgm:pt modelId="{F4A37469-23EE-4F76-8948-63ADF023555B}" type="pres">
      <dgm:prSet presAssocID="{47E17CFB-C901-4190-A77B-0EE6ACB7928A}" presName="sibTrans" presStyleLbl="sibTrans2D1" presStyleIdx="1" presStyleCnt="4"/>
      <dgm:spPr/>
    </dgm:pt>
    <dgm:pt modelId="{487D30B0-D06A-475C-AF1F-369E91759F2D}" type="pres">
      <dgm:prSet presAssocID="{47E17CFB-C901-4190-A77B-0EE6ACB7928A}" presName="connectorText" presStyleLbl="sibTrans2D1" presStyleIdx="1" presStyleCnt="4"/>
      <dgm:spPr/>
    </dgm:pt>
    <dgm:pt modelId="{658BF4E3-B12B-41D6-898E-ACD536B58637}" type="pres">
      <dgm:prSet presAssocID="{8FBD2727-15F8-41CB-ADA2-8B3CB3AB4F9B}" presName="node" presStyleLbl="node1" presStyleIdx="2" presStyleCnt="4">
        <dgm:presLayoutVars>
          <dgm:bulletEnabled val="1"/>
        </dgm:presLayoutVars>
      </dgm:prSet>
      <dgm:spPr/>
    </dgm:pt>
    <dgm:pt modelId="{05D5FFBD-27FA-4C85-BD8C-6C40FFB69966}" type="pres">
      <dgm:prSet presAssocID="{765D3F16-0FAA-4D55-BA7B-37089FD6687A}" presName="sibTrans" presStyleLbl="sibTrans2D1" presStyleIdx="2" presStyleCnt="4"/>
      <dgm:spPr/>
    </dgm:pt>
    <dgm:pt modelId="{0766D172-B19E-4A18-9F2A-E83DC4FDF771}" type="pres">
      <dgm:prSet presAssocID="{765D3F16-0FAA-4D55-BA7B-37089FD6687A}" presName="connectorText" presStyleLbl="sibTrans2D1" presStyleIdx="2" presStyleCnt="4"/>
      <dgm:spPr/>
    </dgm:pt>
    <dgm:pt modelId="{A07F7808-2B1B-4BF3-99FD-CC3098EEE9C1}" type="pres">
      <dgm:prSet presAssocID="{A33AD8E4-5AB6-4FFB-A2D5-02A8BA8D6330}" presName="node" presStyleLbl="node1" presStyleIdx="3" presStyleCnt="4">
        <dgm:presLayoutVars>
          <dgm:bulletEnabled val="1"/>
        </dgm:presLayoutVars>
      </dgm:prSet>
      <dgm:spPr/>
    </dgm:pt>
    <dgm:pt modelId="{3AB7274E-4FB3-4BF1-B424-C4EE1064256D}" type="pres">
      <dgm:prSet presAssocID="{3B02FA93-0920-4A6E-AD52-19FD734616B0}" presName="sibTrans" presStyleLbl="sibTrans2D1" presStyleIdx="3" presStyleCnt="4"/>
      <dgm:spPr/>
    </dgm:pt>
    <dgm:pt modelId="{07B89735-F293-4FFA-A2C6-528E0365F9FA}" type="pres">
      <dgm:prSet presAssocID="{3B02FA93-0920-4A6E-AD52-19FD734616B0}" presName="connectorText" presStyleLbl="sibTrans2D1" presStyleIdx="3" presStyleCnt="4"/>
      <dgm:spPr/>
    </dgm:pt>
  </dgm:ptLst>
  <dgm:cxnLst>
    <dgm:cxn modelId="{76585F19-6C55-41D6-BD97-51780070091F}" type="presOf" srcId="{A33AD8E4-5AB6-4FFB-A2D5-02A8BA8D6330}" destId="{A07F7808-2B1B-4BF3-99FD-CC3098EEE9C1}" srcOrd="0" destOrd="0" presId="urn:microsoft.com/office/officeart/2005/8/layout/cycle2"/>
    <dgm:cxn modelId="{DDBF1C26-DF60-4802-9817-586864E84671}" type="presOf" srcId="{680FB769-B3AA-4B84-BD5A-C5F3E8FD0181}" destId="{6CA56BC6-25BB-4C76-83B9-B49917AFE35A}" srcOrd="0" destOrd="0" presId="urn:microsoft.com/office/officeart/2005/8/layout/cycle2"/>
    <dgm:cxn modelId="{07D5212D-EC7A-4130-9781-E12E6D8AD153}" srcId="{7F734236-9ECB-4CFB-8D74-C3DA9E73AC33}" destId="{8FBD2727-15F8-41CB-ADA2-8B3CB3AB4F9B}" srcOrd="2" destOrd="0" parTransId="{B89971AD-70A8-4B77-A0D4-30674CC7BE46}" sibTransId="{765D3F16-0FAA-4D55-BA7B-37089FD6687A}"/>
    <dgm:cxn modelId="{CA968537-CE5C-468F-8DF7-B47B4382F3B2}" type="presOf" srcId="{85A107A7-7111-42EE-8A48-3F53E838C12E}" destId="{87BDD30D-1F46-435D-927C-0E0053A054DE}" srcOrd="1" destOrd="0" presId="urn:microsoft.com/office/officeart/2005/8/layout/cycle2"/>
    <dgm:cxn modelId="{4C45ED44-F68E-45EA-B405-9D8248C7A074}" type="presOf" srcId="{85A107A7-7111-42EE-8A48-3F53E838C12E}" destId="{3582FEF3-EDAB-4516-9934-25C15B441637}" srcOrd="0" destOrd="0" presId="urn:microsoft.com/office/officeart/2005/8/layout/cycle2"/>
    <dgm:cxn modelId="{58FD6B6D-D101-4A8B-BCDD-0FADB3A8FE8E}" type="presOf" srcId="{6D930765-9CCC-4C76-AB86-D40144DB4E64}" destId="{1175C229-2D38-48B4-80F1-F586D38A94A7}" srcOrd="0" destOrd="0" presId="urn:microsoft.com/office/officeart/2005/8/layout/cycle2"/>
    <dgm:cxn modelId="{505BDA50-712B-4363-BDE9-8B9AE2E9CA99}" srcId="{7F734236-9ECB-4CFB-8D74-C3DA9E73AC33}" destId="{A33AD8E4-5AB6-4FFB-A2D5-02A8BA8D6330}" srcOrd="3" destOrd="0" parTransId="{1C5069CB-7B4E-4811-864D-3358C17B937B}" sibTransId="{3B02FA93-0920-4A6E-AD52-19FD734616B0}"/>
    <dgm:cxn modelId="{91F26D7B-2C7F-4A58-B216-5ABBBC1E3941}" type="presOf" srcId="{47E17CFB-C901-4190-A77B-0EE6ACB7928A}" destId="{487D30B0-D06A-475C-AF1F-369E91759F2D}" srcOrd="1" destOrd="0" presId="urn:microsoft.com/office/officeart/2005/8/layout/cycle2"/>
    <dgm:cxn modelId="{8C20EF7D-07A4-4D6A-90F6-A7452195DA23}" type="presOf" srcId="{3B02FA93-0920-4A6E-AD52-19FD734616B0}" destId="{3AB7274E-4FB3-4BF1-B424-C4EE1064256D}" srcOrd="0" destOrd="0" presId="urn:microsoft.com/office/officeart/2005/8/layout/cycle2"/>
    <dgm:cxn modelId="{D99E6291-B0CD-4A0E-ABC2-F333E26D6B9C}" type="presOf" srcId="{765D3F16-0FAA-4D55-BA7B-37089FD6687A}" destId="{05D5FFBD-27FA-4C85-BD8C-6C40FFB69966}" srcOrd="0" destOrd="0" presId="urn:microsoft.com/office/officeart/2005/8/layout/cycle2"/>
    <dgm:cxn modelId="{CD90FB98-C20A-4F26-9E8C-ABA9DD56390F}" type="presOf" srcId="{765D3F16-0FAA-4D55-BA7B-37089FD6687A}" destId="{0766D172-B19E-4A18-9F2A-E83DC4FDF771}" srcOrd="1" destOrd="0" presId="urn:microsoft.com/office/officeart/2005/8/layout/cycle2"/>
    <dgm:cxn modelId="{C23C9FA9-2F1C-4838-90C6-A763E76F4640}" type="presOf" srcId="{8FBD2727-15F8-41CB-ADA2-8B3CB3AB4F9B}" destId="{658BF4E3-B12B-41D6-898E-ACD536B58637}" srcOrd="0" destOrd="0" presId="urn:microsoft.com/office/officeart/2005/8/layout/cycle2"/>
    <dgm:cxn modelId="{5EECDFBC-D049-48F4-B30B-64C685EF3CD2}" type="presOf" srcId="{47E17CFB-C901-4190-A77B-0EE6ACB7928A}" destId="{F4A37469-23EE-4F76-8948-63ADF023555B}" srcOrd="0" destOrd="0" presId="urn:microsoft.com/office/officeart/2005/8/layout/cycle2"/>
    <dgm:cxn modelId="{D7ED94DD-C26F-413C-91BF-A39C8CC7CF70}" srcId="{7F734236-9ECB-4CFB-8D74-C3DA9E73AC33}" destId="{680FB769-B3AA-4B84-BD5A-C5F3E8FD0181}" srcOrd="1" destOrd="0" parTransId="{6F5209B0-27EE-4FB6-BD17-B22486B1CBC8}" sibTransId="{47E17CFB-C901-4190-A77B-0EE6ACB7928A}"/>
    <dgm:cxn modelId="{AABDB3EE-CBE6-433F-A91D-0477C090DA5C}" srcId="{7F734236-9ECB-4CFB-8D74-C3DA9E73AC33}" destId="{6D930765-9CCC-4C76-AB86-D40144DB4E64}" srcOrd="0" destOrd="0" parTransId="{FC0D200C-D5CA-46F2-AFEA-F5ECC135B041}" sibTransId="{85A107A7-7111-42EE-8A48-3F53E838C12E}"/>
    <dgm:cxn modelId="{C8A0D9FB-92DF-47AE-8DF9-C3EF568087E4}" type="presOf" srcId="{3B02FA93-0920-4A6E-AD52-19FD734616B0}" destId="{07B89735-F293-4FFA-A2C6-528E0365F9FA}" srcOrd="1" destOrd="0" presId="urn:microsoft.com/office/officeart/2005/8/layout/cycle2"/>
    <dgm:cxn modelId="{F98ADFFB-F940-42FB-8D27-D8A37F3AABE8}" type="presOf" srcId="{7F734236-9ECB-4CFB-8D74-C3DA9E73AC33}" destId="{88859A74-4E59-42CF-B12F-7CE5E8359607}" srcOrd="0" destOrd="0" presId="urn:microsoft.com/office/officeart/2005/8/layout/cycle2"/>
    <dgm:cxn modelId="{7892FABE-9BB9-41E9-AF16-2DCB1B4F2410}" type="presParOf" srcId="{88859A74-4E59-42CF-B12F-7CE5E8359607}" destId="{1175C229-2D38-48B4-80F1-F586D38A94A7}" srcOrd="0" destOrd="0" presId="urn:microsoft.com/office/officeart/2005/8/layout/cycle2"/>
    <dgm:cxn modelId="{10F3034F-C06E-489C-8A8C-DA6473775F6C}" type="presParOf" srcId="{88859A74-4E59-42CF-B12F-7CE5E8359607}" destId="{3582FEF3-EDAB-4516-9934-25C15B441637}" srcOrd="1" destOrd="0" presId="urn:microsoft.com/office/officeart/2005/8/layout/cycle2"/>
    <dgm:cxn modelId="{EE44930D-6CA4-4ED7-B7B7-71BF1AC75309}" type="presParOf" srcId="{3582FEF3-EDAB-4516-9934-25C15B441637}" destId="{87BDD30D-1F46-435D-927C-0E0053A054DE}" srcOrd="0" destOrd="0" presId="urn:microsoft.com/office/officeart/2005/8/layout/cycle2"/>
    <dgm:cxn modelId="{78621200-EB68-4CE4-B190-B6166479BD7B}" type="presParOf" srcId="{88859A74-4E59-42CF-B12F-7CE5E8359607}" destId="{6CA56BC6-25BB-4C76-83B9-B49917AFE35A}" srcOrd="2" destOrd="0" presId="urn:microsoft.com/office/officeart/2005/8/layout/cycle2"/>
    <dgm:cxn modelId="{5843ABE8-8A6E-4774-9380-563E043BDE5A}" type="presParOf" srcId="{88859A74-4E59-42CF-B12F-7CE5E8359607}" destId="{F4A37469-23EE-4F76-8948-63ADF023555B}" srcOrd="3" destOrd="0" presId="urn:microsoft.com/office/officeart/2005/8/layout/cycle2"/>
    <dgm:cxn modelId="{2B34FE82-EB87-418E-B4FD-3D4B6AB7B8BA}" type="presParOf" srcId="{F4A37469-23EE-4F76-8948-63ADF023555B}" destId="{487D30B0-D06A-475C-AF1F-369E91759F2D}" srcOrd="0" destOrd="0" presId="urn:microsoft.com/office/officeart/2005/8/layout/cycle2"/>
    <dgm:cxn modelId="{D8D4D8A7-BD32-4A9F-92B3-E9B58D6F2193}" type="presParOf" srcId="{88859A74-4E59-42CF-B12F-7CE5E8359607}" destId="{658BF4E3-B12B-41D6-898E-ACD536B58637}" srcOrd="4" destOrd="0" presId="urn:microsoft.com/office/officeart/2005/8/layout/cycle2"/>
    <dgm:cxn modelId="{47739815-CC33-4BA6-8709-D1683EBAEA87}" type="presParOf" srcId="{88859A74-4E59-42CF-B12F-7CE5E8359607}" destId="{05D5FFBD-27FA-4C85-BD8C-6C40FFB69966}" srcOrd="5" destOrd="0" presId="urn:microsoft.com/office/officeart/2005/8/layout/cycle2"/>
    <dgm:cxn modelId="{EB1B64DB-AF97-4EBA-8F11-A2E6DBEE0D73}" type="presParOf" srcId="{05D5FFBD-27FA-4C85-BD8C-6C40FFB69966}" destId="{0766D172-B19E-4A18-9F2A-E83DC4FDF771}" srcOrd="0" destOrd="0" presId="urn:microsoft.com/office/officeart/2005/8/layout/cycle2"/>
    <dgm:cxn modelId="{A7F086B9-0856-4C1F-81F2-6E3801A6AFE8}" type="presParOf" srcId="{88859A74-4E59-42CF-B12F-7CE5E8359607}" destId="{A07F7808-2B1B-4BF3-99FD-CC3098EEE9C1}" srcOrd="6" destOrd="0" presId="urn:microsoft.com/office/officeart/2005/8/layout/cycle2"/>
    <dgm:cxn modelId="{D8380C7B-8BFA-4A80-9301-1493B9659793}" type="presParOf" srcId="{88859A74-4E59-42CF-B12F-7CE5E8359607}" destId="{3AB7274E-4FB3-4BF1-B424-C4EE1064256D}" srcOrd="7" destOrd="0" presId="urn:microsoft.com/office/officeart/2005/8/layout/cycle2"/>
    <dgm:cxn modelId="{60C77EE0-B7EA-48B4-BBBC-502CAC554FC7}" type="presParOf" srcId="{3AB7274E-4FB3-4BF1-B424-C4EE1064256D}" destId="{07B89735-F293-4FFA-A2C6-528E0365F9F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5C229-2D38-48B4-80F1-F586D38A94A7}">
      <dsp:nvSpPr>
        <dsp:cNvPr id="0" name=""/>
        <dsp:cNvSpPr/>
      </dsp:nvSpPr>
      <dsp:spPr>
        <a:xfrm>
          <a:off x="3356766" y="822"/>
          <a:ext cx="1023841" cy="102384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System</a:t>
          </a:r>
        </a:p>
      </dsp:txBody>
      <dsp:txXfrm>
        <a:off x="3506704" y="150760"/>
        <a:ext cx="723965" cy="723965"/>
      </dsp:txXfrm>
    </dsp:sp>
    <dsp:sp modelId="{3582FEF3-EDAB-4516-9934-25C15B441637}">
      <dsp:nvSpPr>
        <dsp:cNvPr id="0" name=""/>
        <dsp:cNvSpPr/>
      </dsp:nvSpPr>
      <dsp:spPr>
        <a:xfrm rot="2700000">
          <a:off x="4270811" y="878564"/>
          <a:ext cx="272940" cy="3455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4282802" y="918723"/>
        <a:ext cx="191058" cy="207328"/>
      </dsp:txXfrm>
    </dsp:sp>
    <dsp:sp modelId="{6CA56BC6-25BB-4C76-83B9-B49917AFE35A}">
      <dsp:nvSpPr>
        <dsp:cNvPr id="0" name=""/>
        <dsp:cNvSpPr/>
      </dsp:nvSpPr>
      <dsp:spPr>
        <a:xfrm>
          <a:off x="4444879" y="1088935"/>
          <a:ext cx="1023841" cy="102384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Human </a:t>
          </a:r>
          <a:r>
            <a:rPr lang="en-US" sz="1800" kern="1200" dirty="0"/>
            <a:t>Factors</a:t>
          </a:r>
        </a:p>
      </dsp:txBody>
      <dsp:txXfrm>
        <a:off x="4594817" y="1238873"/>
        <a:ext cx="723965" cy="723965"/>
      </dsp:txXfrm>
    </dsp:sp>
    <dsp:sp modelId="{F4A37469-23EE-4F76-8948-63ADF023555B}">
      <dsp:nvSpPr>
        <dsp:cNvPr id="0" name=""/>
        <dsp:cNvSpPr/>
      </dsp:nvSpPr>
      <dsp:spPr>
        <a:xfrm rot="8100000">
          <a:off x="4281735" y="1966677"/>
          <a:ext cx="272940" cy="3455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4351626" y="2006836"/>
        <a:ext cx="191058" cy="207328"/>
      </dsp:txXfrm>
    </dsp:sp>
    <dsp:sp modelId="{658BF4E3-B12B-41D6-898E-ACD536B58637}">
      <dsp:nvSpPr>
        <dsp:cNvPr id="0" name=""/>
        <dsp:cNvSpPr/>
      </dsp:nvSpPr>
      <dsp:spPr>
        <a:xfrm>
          <a:off x="3356766" y="2177048"/>
          <a:ext cx="1023841" cy="102384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HRA</a:t>
          </a:r>
        </a:p>
      </dsp:txBody>
      <dsp:txXfrm>
        <a:off x="3506704" y="2326986"/>
        <a:ext cx="723965" cy="723965"/>
      </dsp:txXfrm>
    </dsp:sp>
    <dsp:sp modelId="{05D5FFBD-27FA-4C85-BD8C-6C40FFB69966}">
      <dsp:nvSpPr>
        <dsp:cNvPr id="0" name=""/>
        <dsp:cNvSpPr/>
      </dsp:nvSpPr>
      <dsp:spPr>
        <a:xfrm rot="13500000">
          <a:off x="3193622" y="1977601"/>
          <a:ext cx="272940" cy="3455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3263513" y="2075660"/>
        <a:ext cx="191058" cy="207328"/>
      </dsp:txXfrm>
    </dsp:sp>
    <dsp:sp modelId="{A07F7808-2B1B-4BF3-99FD-CC3098EEE9C1}">
      <dsp:nvSpPr>
        <dsp:cNvPr id="0" name=""/>
        <dsp:cNvSpPr/>
      </dsp:nvSpPr>
      <dsp:spPr>
        <a:xfrm>
          <a:off x="2268652" y="1088935"/>
          <a:ext cx="1023841" cy="102384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Design</a:t>
          </a:r>
        </a:p>
      </dsp:txBody>
      <dsp:txXfrm>
        <a:off x="2418590" y="1238873"/>
        <a:ext cx="723965" cy="723965"/>
      </dsp:txXfrm>
    </dsp:sp>
    <dsp:sp modelId="{3AB7274E-4FB3-4BF1-B424-C4EE1064256D}">
      <dsp:nvSpPr>
        <dsp:cNvPr id="0" name=""/>
        <dsp:cNvSpPr/>
      </dsp:nvSpPr>
      <dsp:spPr>
        <a:xfrm rot="18900000">
          <a:off x="3182697" y="889488"/>
          <a:ext cx="272940" cy="3455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194688" y="987547"/>
        <a:ext cx="191058" cy="207328"/>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A5F20-F2E9-4574-823A-6C9E72099F18}"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C50D4B-B967-4A5F-95B2-DF08962EC86F}" type="slidenum">
              <a:rPr lang="en-US" smtClean="0"/>
              <a:t>‹#›</a:t>
            </a:fld>
            <a:endParaRPr lang="en-US"/>
          </a:p>
        </p:txBody>
      </p:sp>
    </p:spTree>
    <p:extLst>
      <p:ext uri="{BB962C8B-B14F-4D97-AF65-F5344CB8AC3E}">
        <p14:creationId xmlns:p14="http://schemas.microsoft.com/office/powerpoint/2010/main" val="3566234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https://neomam.com/interactive/13reasons/</a:t>
            </a:r>
          </a:p>
        </p:txBody>
      </p:sp>
      <p:sp>
        <p:nvSpPr>
          <p:cNvPr id="4" name="Slide Number Placeholder 3"/>
          <p:cNvSpPr>
            <a:spLocks noGrp="1"/>
          </p:cNvSpPr>
          <p:nvPr>
            <p:ph type="sldNum" sz="quarter" idx="5"/>
          </p:nvPr>
        </p:nvSpPr>
        <p:spPr/>
        <p:txBody>
          <a:bodyPr/>
          <a:lstStyle/>
          <a:p>
            <a:fld id="{FB87221E-103A-4324-B6F0-251314F31120}" type="slidenum">
              <a:rPr lang="en-US" smtClean="0"/>
              <a:t>4</a:t>
            </a:fld>
            <a:endParaRPr lang="en-US"/>
          </a:p>
        </p:txBody>
      </p:sp>
    </p:spTree>
    <p:extLst>
      <p:ext uri="{BB962C8B-B14F-4D97-AF65-F5344CB8AC3E}">
        <p14:creationId xmlns:p14="http://schemas.microsoft.com/office/powerpoint/2010/main" val="3852344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http://www.rci.rutgers.edu/~uzwiak/AnatPhys/NPSpringLect4_files/image018.jpg</a:t>
            </a:r>
          </a:p>
          <a:p>
            <a:r>
              <a:rPr lang="en-US" dirty="0"/>
              <a:t>https://www.today.com/health/pain-floaters-5-eye-symptoms-you-should-never-ignore-t100301</a:t>
            </a:r>
          </a:p>
          <a:p>
            <a:r>
              <a:rPr lang="en-US" dirty="0"/>
              <a:t>http://www.carolguze.com/images/organsystems/Sensory/eye.jpg</a:t>
            </a:r>
          </a:p>
          <a:p>
            <a:r>
              <a:rPr lang="en-US" dirty="0"/>
              <a:t>http://book.bionumbers.org/how-big-is-a-photoreceptor/</a:t>
            </a:r>
          </a:p>
        </p:txBody>
      </p:sp>
      <p:sp>
        <p:nvSpPr>
          <p:cNvPr id="4" name="Slide Number Placeholder 3"/>
          <p:cNvSpPr>
            <a:spLocks noGrp="1"/>
          </p:cNvSpPr>
          <p:nvPr>
            <p:ph type="sldNum" sz="quarter" idx="5"/>
          </p:nvPr>
        </p:nvSpPr>
        <p:spPr/>
        <p:txBody>
          <a:bodyPr/>
          <a:lstStyle/>
          <a:p>
            <a:fld id="{FB87221E-103A-4324-B6F0-251314F31120}" type="slidenum">
              <a:rPr lang="en-US" smtClean="0"/>
              <a:t>5</a:t>
            </a:fld>
            <a:endParaRPr lang="en-US"/>
          </a:p>
        </p:txBody>
      </p:sp>
    </p:spTree>
    <p:extLst>
      <p:ext uri="{BB962C8B-B14F-4D97-AF65-F5344CB8AC3E}">
        <p14:creationId xmlns:p14="http://schemas.microsoft.com/office/powerpoint/2010/main" val="2955823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http://retina.umh.es/Webvision/imageswv/KallDark8.jpg</a:t>
            </a:r>
          </a:p>
          <a:p>
            <a:r>
              <a:rPr lang="en-US" dirty="0"/>
              <a:t>http://droualb.faculty.mjc.edu/Course%20Materials/Physiology%20101/Chapter%20Notes/Fall%202011/chapter_10%20Fall%202011.htm</a:t>
            </a:r>
          </a:p>
          <a:p>
            <a:endParaRPr lang="en-US" dirty="0"/>
          </a:p>
        </p:txBody>
      </p:sp>
      <p:sp>
        <p:nvSpPr>
          <p:cNvPr id="4" name="Slide Number Placeholder 3"/>
          <p:cNvSpPr>
            <a:spLocks noGrp="1"/>
          </p:cNvSpPr>
          <p:nvPr>
            <p:ph type="sldNum" sz="quarter" idx="5"/>
          </p:nvPr>
        </p:nvSpPr>
        <p:spPr/>
        <p:txBody>
          <a:bodyPr/>
          <a:lstStyle/>
          <a:p>
            <a:fld id="{FB87221E-103A-4324-B6F0-251314F31120}" type="slidenum">
              <a:rPr lang="en-US" smtClean="0"/>
              <a:t>7</a:t>
            </a:fld>
            <a:endParaRPr lang="en-US"/>
          </a:p>
        </p:txBody>
      </p:sp>
    </p:spTree>
    <p:extLst>
      <p:ext uri="{BB962C8B-B14F-4D97-AF65-F5344CB8AC3E}">
        <p14:creationId xmlns:p14="http://schemas.microsoft.com/office/powerpoint/2010/main" val="3459079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https://dslauretta.files.wordpress.com/2014/01/foveal-region.png</a:t>
            </a:r>
          </a:p>
        </p:txBody>
      </p:sp>
      <p:sp>
        <p:nvSpPr>
          <p:cNvPr id="4" name="Slide Number Placeholder 3"/>
          <p:cNvSpPr>
            <a:spLocks noGrp="1"/>
          </p:cNvSpPr>
          <p:nvPr>
            <p:ph type="sldNum" sz="quarter" idx="5"/>
          </p:nvPr>
        </p:nvSpPr>
        <p:spPr/>
        <p:txBody>
          <a:bodyPr/>
          <a:lstStyle/>
          <a:p>
            <a:fld id="{FB87221E-103A-4324-B6F0-251314F31120}" type="slidenum">
              <a:rPr lang="en-US" smtClean="0"/>
              <a:t>8</a:t>
            </a:fld>
            <a:endParaRPr lang="en-US"/>
          </a:p>
        </p:txBody>
      </p:sp>
    </p:spTree>
    <p:extLst>
      <p:ext uri="{BB962C8B-B14F-4D97-AF65-F5344CB8AC3E}">
        <p14:creationId xmlns:p14="http://schemas.microsoft.com/office/powerpoint/2010/main" val="4257874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https://www.researchgate.net/publication/270221266_Top-Down_but_Not_Bottom-Up_Visual_Scanning_is_Affected_in_Hereditary_Pure_Cerebellar_Ataxia/figures?lo=1</a:t>
            </a:r>
          </a:p>
        </p:txBody>
      </p:sp>
      <p:sp>
        <p:nvSpPr>
          <p:cNvPr id="4" name="Slide Number Placeholder 3"/>
          <p:cNvSpPr>
            <a:spLocks noGrp="1"/>
          </p:cNvSpPr>
          <p:nvPr>
            <p:ph type="sldNum" sz="quarter" idx="5"/>
          </p:nvPr>
        </p:nvSpPr>
        <p:spPr/>
        <p:txBody>
          <a:bodyPr/>
          <a:lstStyle/>
          <a:p>
            <a:fld id="{FB87221E-103A-4324-B6F0-251314F31120}" type="slidenum">
              <a:rPr lang="en-US" smtClean="0"/>
              <a:t>34</a:t>
            </a:fld>
            <a:endParaRPr lang="en-US"/>
          </a:p>
        </p:txBody>
      </p:sp>
    </p:spTree>
    <p:extLst>
      <p:ext uri="{BB962C8B-B14F-4D97-AF65-F5344CB8AC3E}">
        <p14:creationId xmlns:p14="http://schemas.microsoft.com/office/powerpoint/2010/main" val="757895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87221E-103A-4324-B6F0-251314F31120}" type="slidenum">
              <a:rPr lang="en-US" smtClean="0"/>
              <a:t>45</a:t>
            </a:fld>
            <a:endParaRPr lang="en-US"/>
          </a:p>
        </p:txBody>
      </p:sp>
    </p:spTree>
    <p:extLst>
      <p:ext uri="{BB962C8B-B14F-4D97-AF65-F5344CB8AC3E}">
        <p14:creationId xmlns:p14="http://schemas.microsoft.com/office/powerpoint/2010/main" val="316264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https://en.wikipedia.org/wiki/Yerkes%E2%80%93Dodson_law#/media/File:HebbianYerkesDodson.svg</a:t>
            </a:r>
          </a:p>
          <a:p>
            <a:r>
              <a:rPr lang="en-US" dirty="0"/>
              <a:t>https://www.michiganautolaw.com/blog/2014/12/27/droopy-eyelid-detector/</a:t>
            </a:r>
          </a:p>
          <a:p>
            <a:r>
              <a:rPr lang="en-US" dirty="0"/>
              <a:t>https://duckduckgo.com/?q=overworked&amp;t=ffsb&amp;iar=images&amp;iax=images&amp;ia=images&amp;iai=https%3A%2F%2Fc8.alamy.com%2Fcomp%2FABC687%2Foffice-environment-frustrated-overworked-office-worker-at-her-desk-ABC687.jpg</a:t>
            </a:r>
          </a:p>
        </p:txBody>
      </p:sp>
      <p:sp>
        <p:nvSpPr>
          <p:cNvPr id="4" name="Slide Number Placeholder 3"/>
          <p:cNvSpPr>
            <a:spLocks noGrp="1"/>
          </p:cNvSpPr>
          <p:nvPr>
            <p:ph type="sldNum" sz="quarter" idx="5"/>
          </p:nvPr>
        </p:nvSpPr>
        <p:spPr/>
        <p:txBody>
          <a:bodyPr/>
          <a:lstStyle/>
          <a:p>
            <a:fld id="{FB87221E-103A-4324-B6F0-251314F31120}" type="slidenum">
              <a:rPr lang="en-US" smtClean="0"/>
              <a:t>51</a:t>
            </a:fld>
            <a:endParaRPr lang="en-US"/>
          </a:p>
        </p:txBody>
      </p:sp>
    </p:spTree>
    <p:extLst>
      <p:ext uri="{BB962C8B-B14F-4D97-AF65-F5344CB8AC3E}">
        <p14:creationId xmlns:p14="http://schemas.microsoft.com/office/powerpoint/2010/main" val="2792457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https://en.wikipedia.org/wiki/Yerkes%E2%80%93Dodson_law#/media/File:HebbianYerkesDodson.svg</a:t>
            </a:r>
          </a:p>
          <a:p>
            <a:r>
              <a:rPr lang="en-US" dirty="0"/>
              <a:t>https://www.michiganautolaw.com/blog/2014/12/27/droopy-eyelid-detector/</a:t>
            </a:r>
          </a:p>
          <a:p>
            <a:r>
              <a:rPr lang="en-US" dirty="0"/>
              <a:t>https://duckduckgo.com/?q=overworked&amp;t=ffsb&amp;iar=images&amp;iax=images&amp;ia=images&amp;iai=https%3A%2F%2Fc8.alamy.com%2Fcomp%2FABC687%2Foffice-environment-frustrated-overworked-office-worker-at-her-desk-ABC687.jpg</a:t>
            </a:r>
          </a:p>
        </p:txBody>
      </p:sp>
      <p:sp>
        <p:nvSpPr>
          <p:cNvPr id="4" name="Slide Number Placeholder 3"/>
          <p:cNvSpPr>
            <a:spLocks noGrp="1"/>
          </p:cNvSpPr>
          <p:nvPr>
            <p:ph type="sldNum" sz="quarter" idx="5"/>
          </p:nvPr>
        </p:nvSpPr>
        <p:spPr/>
        <p:txBody>
          <a:bodyPr/>
          <a:lstStyle/>
          <a:p>
            <a:fld id="{FB87221E-103A-4324-B6F0-251314F31120}" type="slidenum">
              <a:rPr lang="en-US" smtClean="0"/>
              <a:t>52</a:t>
            </a:fld>
            <a:endParaRPr lang="en-US"/>
          </a:p>
        </p:txBody>
      </p:sp>
    </p:spTree>
    <p:extLst>
      <p:ext uri="{BB962C8B-B14F-4D97-AF65-F5344CB8AC3E}">
        <p14:creationId xmlns:p14="http://schemas.microsoft.com/office/powerpoint/2010/main" val="1161273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https://image.slideserve.com/784124/results-mackworth-1948-n.jpg</a:t>
            </a:r>
          </a:p>
          <a:p>
            <a:r>
              <a:rPr lang="en-US" dirty="0"/>
              <a:t>https://www.scmp.com/news/china-insider/article/1343678/revealed-how-trade-unions-are-failing-shenzhens-factories</a:t>
            </a:r>
          </a:p>
        </p:txBody>
      </p:sp>
      <p:sp>
        <p:nvSpPr>
          <p:cNvPr id="4" name="Slide Number Placeholder 3"/>
          <p:cNvSpPr>
            <a:spLocks noGrp="1"/>
          </p:cNvSpPr>
          <p:nvPr>
            <p:ph type="sldNum" sz="quarter" idx="5"/>
          </p:nvPr>
        </p:nvSpPr>
        <p:spPr/>
        <p:txBody>
          <a:bodyPr/>
          <a:lstStyle/>
          <a:p>
            <a:fld id="{FB87221E-103A-4324-B6F0-251314F31120}" type="slidenum">
              <a:rPr lang="en-US" smtClean="0"/>
              <a:t>53</a:t>
            </a:fld>
            <a:endParaRPr lang="en-US"/>
          </a:p>
        </p:txBody>
      </p:sp>
    </p:spTree>
    <p:extLst>
      <p:ext uri="{BB962C8B-B14F-4D97-AF65-F5344CB8AC3E}">
        <p14:creationId xmlns:p14="http://schemas.microsoft.com/office/powerpoint/2010/main" val="829433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https://en.wikipedia.org/wiki/Swiss_cheese_model#/media/File:Swiss_cheese_model_of_accident_causation.png</a:t>
            </a:r>
          </a:p>
        </p:txBody>
      </p:sp>
      <p:sp>
        <p:nvSpPr>
          <p:cNvPr id="4" name="Slide Number Placeholder 3"/>
          <p:cNvSpPr>
            <a:spLocks noGrp="1"/>
          </p:cNvSpPr>
          <p:nvPr>
            <p:ph type="sldNum" sz="quarter" idx="5"/>
          </p:nvPr>
        </p:nvSpPr>
        <p:spPr/>
        <p:txBody>
          <a:bodyPr/>
          <a:lstStyle/>
          <a:p>
            <a:fld id="{FB87221E-103A-4324-B6F0-251314F31120}" type="slidenum">
              <a:rPr lang="en-US" smtClean="0"/>
              <a:t>54</a:t>
            </a:fld>
            <a:endParaRPr lang="en-US"/>
          </a:p>
        </p:txBody>
      </p:sp>
    </p:spTree>
    <p:extLst>
      <p:ext uri="{BB962C8B-B14F-4D97-AF65-F5344CB8AC3E}">
        <p14:creationId xmlns:p14="http://schemas.microsoft.com/office/powerpoint/2010/main" val="818710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https://hub.packtpub.com/dashboard-design-best-practices/</a:t>
            </a:r>
          </a:p>
        </p:txBody>
      </p:sp>
      <p:sp>
        <p:nvSpPr>
          <p:cNvPr id="4" name="Slide Number Placeholder 3"/>
          <p:cNvSpPr>
            <a:spLocks noGrp="1"/>
          </p:cNvSpPr>
          <p:nvPr>
            <p:ph type="sldNum" sz="quarter" idx="5"/>
          </p:nvPr>
        </p:nvSpPr>
        <p:spPr/>
        <p:txBody>
          <a:bodyPr/>
          <a:lstStyle/>
          <a:p>
            <a:fld id="{FB87221E-103A-4324-B6F0-251314F31120}" type="slidenum">
              <a:rPr lang="en-US" smtClean="0"/>
              <a:t>62</a:t>
            </a:fld>
            <a:endParaRPr lang="en-US"/>
          </a:p>
        </p:txBody>
      </p:sp>
    </p:spTree>
    <p:extLst>
      <p:ext uri="{BB962C8B-B14F-4D97-AF65-F5344CB8AC3E}">
        <p14:creationId xmlns:p14="http://schemas.microsoft.com/office/powerpoint/2010/main" val="16269083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https://hub.packtpub.com/dashboard-design-best-practices/</a:t>
            </a:r>
          </a:p>
        </p:txBody>
      </p:sp>
      <p:sp>
        <p:nvSpPr>
          <p:cNvPr id="4" name="Slide Number Placeholder 3"/>
          <p:cNvSpPr>
            <a:spLocks noGrp="1"/>
          </p:cNvSpPr>
          <p:nvPr>
            <p:ph type="sldNum" sz="quarter" idx="5"/>
          </p:nvPr>
        </p:nvSpPr>
        <p:spPr/>
        <p:txBody>
          <a:bodyPr/>
          <a:lstStyle/>
          <a:p>
            <a:fld id="{FB87221E-103A-4324-B6F0-251314F31120}" type="slidenum">
              <a:rPr lang="en-US" smtClean="0"/>
              <a:t>64</a:t>
            </a:fld>
            <a:endParaRPr lang="en-US"/>
          </a:p>
        </p:txBody>
      </p:sp>
    </p:spTree>
    <p:extLst>
      <p:ext uri="{BB962C8B-B14F-4D97-AF65-F5344CB8AC3E}">
        <p14:creationId xmlns:p14="http://schemas.microsoft.com/office/powerpoint/2010/main" val="3923440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87221E-103A-4324-B6F0-251314F31120}" type="slidenum">
              <a:rPr lang="en-US" smtClean="0"/>
              <a:t>65</a:t>
            </a:fld>
            <a:endParaRPr lang="en-US"/>
          </a:p>
        </p:txBody>
      </p:sp>
    </p:spTree>
    <p:extLst>
      <p:ext uri="{BB962C8B-B14F-4D97-AF65-F5344CB8AC3E}">
        <p14:creationId xmlns:p14="http://schemas.microsoft.com/office/powerpoint/2010/main" val="2456776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87221E-103A-4324-B6F0-251314F31120}" type="slidenum">
              <a:rPr lang="en-US" smtClean="0"/>
              <a:t>66</a:t>
            </a:fld>
            <a:endParaRPr lang="en-US"/>
          </a:p>
        </p:txBody>
      </p:sp>
    </p:spTree>
    <p:extLst>
      <p:ext uri="{BB962C8B-B14F-4D97-AF65-F5344CB8AC3E}">
        <p14:creationId xmlns:p14="http://schemas.microsoft.com/office/powerpoint/2010/main" val="2832127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https://philadelphiaweather.blogspot.com/2006/09/tropical-storm-florence.html</a:t>
            </a:r>
          </a:p>
          <a:p>
            <a:r>
              <a:rPr lang="en-US" dirty="0"/>
              <a:t>https://www.geek.com/science/fukushima-radiation-has-reached-california-but-its-really-nothing-to-worry-about-1609326/</a:t>
            </a:r>
          </a:p>
        </p:txBody>
      </p:sp>
      <p:sp>
        <p:nvSpPr>
          <p:cNvPr id="4" name="Slide Number Placeholder 3"/>
          <p:cNvSpPr>
            <a:spLocks noGrp="1"/>
          </p:cNvSpPr>
          <p:nvPr>
            <p:ph type="sldNum" sz="quarter" idx="5"/>
          </p:nvPr>
        </p:nvSpPr>
        <p:spPr/>
        <p:txBody>
          <a:bodyPr/>
          <a:lstStyle/>
          <a:p>
            <a:fld id="{FB87221E-103A-4324-B6F0-251314F31120}" type="slidenum">
              <a:rPr lang="en-US" smtClean="0"/>
              <a:t>73</a:t>
            </a:fld>
            <a:endParaRPr lang="en-US"/>
          </a:p>
        </p:txBody>
      </p:sp>
    </p:spTree>
    <p:extLst>
      <p:ext uri="{BB962C8B-B14F-4D97-AF65-F5344CB8AC3E}">
        <p14:creationId xmlns:p14="http://schemas.microsoft.com/office/powerpoint/2010/main" val="2952949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77C2-E234-8F59-F209-0E807A0FD9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185F15-255B-D1EF-DF01-746CC77648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86381-8E30-1E11-1F51-64A37ED145A8}"/>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6BCE0DDA-98C3-5AD5-9962-F0AF0EFBC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DE2F8-22A7-739D-17AA-94C3744211A6}"/>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1316260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CAFB6-729A-B2CA-5C5E-4DE47BBD06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3A550F-ABD7-E98E-4453-5E88BD97D1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17D5B-413D-B1CD-23E6-681C8CCFF4E6}"/>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E9974550-1FCE-4426-9CAA-3FC41E33B6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6A70A3-4D4F-6B41-8F04-2B2F41FDCEC1}"/>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609857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5B47C-72E2-6D52-3C3A-45FC4F4287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0A8D9-528C-79BF-3843-F8947DF60F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F5FAA9-7627-D4F5-6B60-78CC5FC4BE3A}"/>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B0D5B66E-D862-F248-2BFA-A18B681E77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472B4-D01D-31D1-CCCA-13FB163676BE}"/>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1957803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FA791-590E-F366-6085-9C1AFE36F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C6A32D-7649-A837-1865-C0FEDCC39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25BA49-9082-B446-5D1C-34C7D8E8F6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A8F1C0-8EB9-2DB8-0797-0F57EDC11E70}"/>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6" name="Footer Placeholder 5">
            <a:extLst>
              <a:ext uri="{FF2B5EF4-FFF2-40B4-BE49-F238E27FC236}">
                <a16:creationId xmlns:a16="http://schemas.microsoft.com/office/drawing/2014/main" id="{6919F6A8-ABEE-F73A-7C3D-E0D75D0492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B2DD29-EFE2-5C75-7892-39A775F9920C}"/>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657105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F432-951E-CFE2-0768-D2D4F613D1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3BFA24-59DE-5A14-4567-F1D8569FE3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1D5D68-3D76-04A6-1BC7-91F697C571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70CA6F-CB55-1DB7-B654-9EAED922B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35950A-CEFF-38FB-28EF-E9814EED30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0F9E2F-C2D8-F762-561B-720C0A74C67D}"/>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8" name="Footer Placeholder 7">
            <a:extLst>
              <a:ext uri="{FF2B5EF4-FFF2-40B4-BE49-F238E27FC236}">
                <a16:creationId xmlns:a16="http://schemas.microsoft.com/office/drawing/2014/main" id="{70A17ADB-FDB4-6966-F367-1E1B11F67B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314A0B-9737-A910-EBE0-0E03B372DBF1}"/>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419948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0E4A-28E2-0FA6-2525-314FA22476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460362-746A-A65B-C36D-176A2557A965}"/>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4" name="Footer Placeholder 3">
            <a:extLst>
              <a:ext uri="{FF2B5EF4-FFF2-40B4-BE49-F238E27FC236}">
                <a16:creationId xmlns:a16="http://schemas.microsoft.com/office/drawing/2014/main" id="{0C08D8FE-291B-4B00-0916-F073B87F38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5FF2D-053D-ED00-6354-5B17A978FF6F}"/>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3051031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5D93E5-8D51-934C-E39F-54CCCBA701FA}"/>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3" name="Footer Placeholder 2">
            <a:extLst>
              <a:ext uri="{FF2B5EF4-FFF2-40B4-BE49-F238E27FC236}">
                <a16:creationId xmlns:a16="http://schemas.microsoft.com/office/drawing/2014/main" id="{C935AAEC-C73A-C412-3AEF-4EE12557F6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F0A027-9DBF-E055-EB4E-4EDCE14F7FCB}"/>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1012220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D616-2568-A978-9C36-4416BC5820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F3519C-6648-F2CC-673D-67006DC811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C82F15-4D7B-A66B-1447-A6402D0E7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DDC34C-45FA-B46F-F514-A236C076B72A}"/>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6" name="Footer Placeholder 5">
            <a:extLst>
              <a:ext uri="{FF2B5EF4-FFF2-40B4-BE49-F238E27FC236}">
                <a16:creationId xmlns:a16="http://schemas.microsoft.com/office/drawing/2014/main" id="{90FA80DB-FE0B-D8B6-A888-901AA28888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F2DB29-8DB3-912D-E344-2DE2F5546D56}"/>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2488308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68AE-499A-67C2-BCF9-97366E94FB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7D30E8-6CB9-A826-7AE1-165D0CBB02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91183C-3535-287F-0A08-C8CF63A1E4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CB3348-EFA6-A66C-F5FA-20CFF50B4A92}"/>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6" name="Footer Placeholder 5">
            <a:extLst>
              <a:ext uri="{FF2B5EF4-FFF2-40B4-BE49-F238E27FC236}">
                <a16:creationId xmlns:a16="http://schemas.microsoft.com/office/drawing/2014/main" id="{E477DEDF-2185-0F82-AE58-ABF5CFBBB2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F6891-FDBE-47C8-90F2-AE874326263B}"/>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2992075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138A-3043-F804-B0EE-C75F8BD1BC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E2ACB6-0165-8FEF-1486-AB761A3E4A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5478F-8347-EC34-CC8E-176A5FD38B70}"/>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5E46B8AB-8FFA-BAA0-044B-C699D24AF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F1D42-AC67-E60E-211F-FD735031469F}"/>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1006159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94188B-EE3F-C371-99A5-4671BA34F0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17A32D-2A0A-F49C-5603-EE33A22F6D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0EA61E-00FD-EBB3-3EC9-5291155D4587}"/>
              </a:ext>
            </a:extLst>
          </p:cNvPr>
          <p:cNvSpPr>
            <a:spLocks noGrp="1"/>
          </p:cNvSpPr>
          <p:nvPr>
            <p:ph type="dt" sz="half" idx="10"/>
          </p:nvPr>
        </p:nvSpPr>
        <p:spPr/>
        <p:txBody>
          <a:body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D074FF36-BD87-F0CF-D435-98F2F5E7D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8E4E7-943C-4D5C-BF9C-B61A01E76004}"/>
              </a:ext>
            </a:extLst>
          </p:cNvPr>
          <p:cNvSpPr>
            <a:spLocks noGrp="1"/>
          </p:cNvSpPr>
          <p:nvPr>
            <p:ph type="sldNum" sz="quarter" idx="12"/>
          </p:nvPr>
        </p:nvSpPr>
        <p:spPr/>
        <p:txBody>
          <a:bodyPr/>
          <a:lstStyle/>
          <a:p>
            <a:fld id="{45057E35-F5E1-465C-B383-7513DAD2C779}" type="slidenum">
              <a:rPr lang="en-US" smtClean="0"/>
              <a:t>‹#›</a:t>
            </a:fld>
            <a:endParaRPr lang="en-US"/>
          </a:p>
        </p:txBody>
      </p:sp>
    </p:spTree>
    <p:extLst>
      <p:ext uri="{BB962C8B-B14F-4D97-AF65-F5344CB8AC3E}">
        <p14:creationId xmlns:p14="http://schemas.microsoft.com/office/powerpoint/2010/main" val="1094877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2D1E49-712B-328B-C9B2-728E2EB6DC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A873B2-17AC-0C57-6405-C276FF5B0E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8AC67-20ED-A996-8731-7368B509B8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B6F369-4D13-484D-ADB0-4E3662DBD05D}" type="datetimeFigureOut">
              <a:rPr lang="en-US" smtClean="0"/>
              <a:t>1/28/2025</a:t>
            </a:fld>
            <a:endParaRPr lang="en-US"/>
          </a:p>
        </p:txBody>
      </p:sp>
      <p:sp>
        <p:nvSpPr>
          <p:cNvPr id="5" name="Footer Placeholder 4">
            <a:extLst>
              <a:ext uri="{FF2B5EF4-FFF2-40B4-BE49-F238E27FC236}">
                <a16:creationId xmlns:a16="http://schemas.microsoft.com/office/drawing/2014/main" id="{7554461D-5FD5-F2D2-0C4D-6947347B1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51274F-0DE7-DA09-5368-D6A844504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057E35-F5E1-465C-B383-7513DAD2C779}" type="slidenum">
              <a:rPr lang="en-US" smtClean="0"/>
              <a:t>‹#›</a:t>
            </a:fld>
            <a:endParaRPr lang="en-US"/>
          </a:p>
        </p:txBody>
      </p:sp>
    </p:spTree>
    <p:extLst>
      <p:ext uri="{BB962C8B-B14F-4D97-AF65-F5344CB8AC3E}">
        <p14:creationId xmlns:p14="http://schemas.microsoft.com/office/powerpoint/2010/main" val="4250293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3.jpg"/><Relationship Id="rId7"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0.png"/><Relationship Id="rId4" Type="http://schemas.openxmlformats.org/officeDocument/2006/relationships/image" Target="../media/image430.png"/></Relationships>
</file>

<file path=ppt/slides/_rels/slide46.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4.tiff"/><Relationship Id="rId4" Type="http://schemas.openxmlformats.org/officeDocument/2006/relationships/image" Target="../media/image43.jp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0.jpg"/></Relationships>
</file>

<file path=ppt/slides/_rels/slide5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3.jpg"/><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0.png"/><Relationship Id="rId7" Type="http://schemas.openxmlformats.org/officeDocument/2006/relationships/image" Target="../media/image250.png"/><Relationship Id="rId12" Type="http://schemas.openxmlformats.org/officeDocument/2006/relationships/image" Target="../media/image30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0.png"/><Relationship Id="rId11" Type="http://schemas.openxmlformats.org/officeDocument/2006/relationships/image" Target="../media/image29.png"/><Relationship Id="rId5" Type="http://schemas.openxmlformats.org/officeDocument/2006/relationships/image" Target="../media/image230.png"/><Relationship Id="rId10" Type="http://schemas.openxmlformats.org/officeDocument/2006/relationships/image" Target="../media/image280.png"/><Relationship Id="rId4" Type="http://schemas.openxmlformats.org/officeDocument/2006/relationships/image" Target="../media/image220.png"/><Relationship Id="rId9"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7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219D-2AC3-BA13-CF7F-B325A41410C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E93DC58-15C4-4564-0A9B-C36D3BBC46C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8480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Cognition: Baddeley’s working memory model</a:t>
            </a:r>
          </a:p>
        </p:txBody>
      </p:sp>
      <p:pic>
        <p:nvPicPr>
          <p:cNvPr id="4" name="Picture 6" descr="http://bethycotter.wdfiles.com/local--files/structureofstm/588px-Working-memory-e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8846" y="1675227"/>
            <a:ext cx="7354307"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7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DC8BF-70E7-4D80-B37C-8A68F86CD70D}"/>
              </a:ext>
            </a:extLst>
          </p:cNvPr>
          <p:cNvSpPr>
            <a:spLocks noGrp="1"/>
          </p:cNvSpPr>
          <p:nvPr>
            <p:ph type="title"/>
          </p:nvPr>
        </p:nvSpPr>
        <p:spPr>
          <a:xfrm>
            <a:off x="3045368" y="2043663"/>
            <a:ext cx="6105194" cy="2031055"/>
          </a:xfrm>
        </p:spPr>
        <p:txBody>
          <a:bodyPr vert="horz" lIns="91440" tIns="45720" rIns="91440" bIns="45720" rtlCol="0" anchor="b">
            <a:normAutofit/>
          </a:bodyPr>
          <a:lstStyle/>
          <a:p>
            <a:pPr algn="ctr"/>
            <a:r>
              <a:rPr lang="en-US" sz="6000" kern="1200" dirty="0">
                <a:solidFill>
                  <a:srgbClr val="FFFFFF"/>
                </a:solidFill>
                <a:latin typeface="+mj-lt"/>
                <a:ea typeface="+mj-ea"/>
                <a:cs typeface="+mj-cs"/>
              </a:rPr>
              <a:t>Vision</a:t>
            </a:r>
          </a:p>
        </p:txBody>
      </p:sp>
    </p:spTree>
    <p:extLst>
      <p:ext uri="{BB962C8B-B14F-4D97-AF65-F5344CB8AC3E}">
        <p14:creationId xmlns:p14="http://schemas.microsoft.com/office/powerpoint/2010/main" val="8730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64B4B9-861A-438A-9C79-3A59FC2165ED}"/>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3D2DA7F5-D29B-4A14-BA65-DAA566A03000}"/>
              </a:ext>
            </a:extLst>
          </p:cNvPr>
          <p:cNvPicPr>
            <a:picLocks noChangeAspect="1"/>
          </p:cNvPicPr>
          <p:nvPr/>
        </p:nvPicPr>
        <p:blipFill rotWithShape="1">
          <a:blip r:embed="rId3"/>
          <a:srcRect t="7347" b="6395"/>
          <a:stretch/>
        </p:blipFill>
        <p:spPr>
          <a:xfrm>
            <a:off x="-1038433" y="0"/>
            <a:ext cx="14134257" cy="6858000"/>
          </a:xfrm>
          <a:prstGeom prst="rect">
            <a:avLst/>
          </a:prstGeom>
        </p:spPr>
      </p:pic>
    </p:spTree>
    <p:extLst>
      <p:ext uri="{BB962C8B-B14F-4D97-AF65-F5344CB8AC3E}">
        <p14:creationId xmlns:p14="http://schemas.microsoft.com/office/powerpoint/2010/main" val="427183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close up of text on a white background&#10;&#10;Description generated with high confidence">
            <a:extLst>
              <a:ext uri="{FF2B5EF4-FFF2-40B4-BE49-F238E27FC236}">
                <a16:creationId xmlns:a16="http://schemas.microsoft.com/office/drawing/2014/main" id="{11AEDD71-F69D-451B-9C26-C9EF0537DB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6445"/>
            <a:ext cx="4593154" cy="2905170"/>
          </a:xfrm>
          <a:prstGeom prst="rect">
            <a:avLst/>
          </a:prstGeom>
        </p:spPr>
      </p:pic>
      <p:pic>
        <p:nvPicPr>
          <p:cNvPr id="8" name="Picture 7" descr="http://www.stanford.edu/group/vista/cgi-bin/FOV/wp-content/uploads/2012/02/rod.cone_.distribution2.png">
            <a:extLst>
              <a:ext uri="{FF2B5EF4-FFF2-40B4-BE49-F238E27FC236}">
                <a16:creationId xmlns:a16="http://schemas.microsoft.com/office/drawing/2014/main" id="{466B0155-35F5-45C1-8467-5AAB968D23E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201" y="3770004"/>
            <a:ext cx="5426764" cy="24827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openwetware.org/images/b/b5/Rod-cone_distribution.jpg">
            <a:extLst>
              <a:ext uri="{FF2B5EF4-FFF2-40B4-BE49-F238E27FC236}">
                <a16:creationId xmlns:a16="http://schemas.microsoft.com/office/drawing/2014/main" id="{2845AE16-05FB-49FF-AB8B-E7A63C6D23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8034" y="429395"/>
            <a:ext cx="5426764" cy="5854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picture containing text&#10;&#10;Description generated with very high confidence">
            <a:extLst>
              <a:ext uri="{FF2B5EF4-FFF2-40B4-BE49-F238E27FC236}">
                <a16:creationId xmlns:a16="http://schemas.microsoft.com/office/drawing/2014/main" id="{1B6D94BC-D320-4892-BF0B-46AA412FBA7B}"/>
              </a:ext>
            </a:extLst>
          </p:cNvPr>
          <p:cNvPicPr>
            <a:picLocks noChangeAspect="1"/>
          </p:cNvPicPr>
          <p:nvPr/>
        </p:nvPicPr>
        <p:blipFill rotWithShape="1">
          <a:blip r:embed="rId6">
            <a:extLst>
              <a:ext uri="{28A0092B-C50C-407E-A947-70E740481C1C}">
                <a14:useLocalDpi xmlns:a14="http://schemas.microsoft.com/office/drawing/2010/main" val="0"/>
              </a:ext>
            </a:extLst>
          </a:blip>
          <a:srcRect r="40733" b="35418"/>
          <a:stretch/>
        </p:blipFill>
        <p:spPr>
          <a:xfrm>
            <a:off x="4593155" y="226445"/>
            <a:ext cx="2628740" cy="2281722"/>
          </a:xfrm>
          <a:prstGeom prst="rect">
            <a:avLst/>
          </a:prstGeom>
        </p:spPr>
      </p:pic>
    </p:spTree>
    <p:extLst>
      <p:ext uri="{BB962C8B-B14F-4D97-AF65-F5344CB8AC3E}">
        <p14:creationId xmlns:p14="http://schemas.microsoft.com/office/powerpoint/2010/main" val="1366270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5A3D140-30B6-48F0-8A1A-4E5FE2AC50CB}"/>
              </a:ext>
            </a:extLst>
          </p:cNvPr>
          <p:cNvGraphicFramePr>
            <a:graphicFrameLocks noGrp="1"/>
          </p:cNvGraphicFramePr>
          <p:nvPr>
            <p:ph idx="1"/>
          </p:nvPr>
        </p:nvGraphicFramePr>
        <p:xfrm>
          <a:off x="643467" y="952158"/>
          <a:ext cx="10905066" cy="4953686"/>
        </p:xfrm>
        <a:graphic>
          <a:graphicData uri="http://schemas.openxmlformats.org/drawingml/2006/table">
            <a:tbl>
              <a:tblPr firstRow="1" bandRow="1">
                <a:noFill/>
                <a:tableStyleId>{5C22544A-7EE6-4342-B048-85BDC9FD1C3A}</a:tableStyleId>
              </a:tblPr>
              <a:tblGrid>
                <a:gridCol w="5796789">
                  <a:extLst>
                    <a:ext uri="{9D8B030D-6E8A-4147-A177-3AD203B41FA5}">
                      <a16:colId xmlns:a16="http://schemas.microsoft.com/office/drawing/2014/main" val="3917248210"/>
                    </a:ext>
                  </a:extLst>
                </a:gridCol>
                <a:gridCol w="5108277">
                  <a:extLst>
                    <a:ext uri="{9D8B030D-6E8A-4147-A177-3AD203B41FA5}">
                      <a16:colId xmlns:a16="http://schemas.microsoft.com/office/drawing/2014/main" val="1112043160"/>
                    </a:ext>
                  </a:extLst>
                </a:gridCol>
              </a:tblGrid>
              <a:tr h="761462">
                <a:tc>
                  <a:txBody>
                    <a:bodyPr/>
                    <a:lstStyle/>
                    <a:p>
                      <a:r>
                        <a:rPr lang="en-US" sz="2200" b="0" cap="all" spc="150">
                          <a:solidFill>
                            <a:schemeClr val="lt1"/>
                          </a:solidFill>
                        </a:rPr>
                        <a:t>Cones</a:t>
                      </a:r>
                    </a:p>
                  </a:txBody>
                  <a:tcPr marL="188273" marR="188273" marT="188273" marB="188273">
                    <a:lnL w="12700" cmpd="sng">
                      <a:noFill/>
                    </a:lnL>
                    <a:lnR w="12700" cmpd="sng">
                      <a:noFill/>
                    </a:lnR>
                    <a:lnT w="12700" cmpd="sng">
                      <a:noFill/>
                    </a:lnT>
                    <a:lnB w="38100" cmpd="sng">
                      <a:noFill/>
                    </a:lnB>
                    <a:solidFill>
                      <a:srgbClr val="505356"/>
                    </a:solidFill>
                  </a:tcPr>
                </a:tc>
                <a:tc>
                  <a:txBody>
                    <a:bodyPr/>
                    <a:lstStyle/>
                    <a:p>
                      <a:r>
                        <a:rPr lang="en-US" sz="2200" b="0" cap="all" spc="150">
                          <a:solidFill>
                            <a:schemeClr val="lt1"/>
                          </a:solidFill>
                        </a:rPr>
                        <a:t>Rods</a:t>
                      </a:r>
                    </a:p>
                  </a:txBody>
                  <a:tcPr marL="188273" marR="188273" marT="188273" marB="188273">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2716879140"/>
                  </a:ext>
                </a:extLst>
              </a:tr>
              <a:tr h="698704">
                <a:tc>
                  <a:txBody>
                    <a:bodyPr/>
                    <a:lstStyle/>
                    <a:p>
                      <a:r>
                        <a:rPr lang="en-US" sz="1800" cap="none" spc="0">
                          <a:solidFill>
                            <a:schemeClr val="tx1"/>
                          </a:solidFill>
                        </a:rPr>
                        <a:t>Foveal Vision (High Acuity), Small</a:t>
                      </a:r>
                    </a:p>
                  </a:txBody>
                  <a:tcPr marL="188273" marR="188273" marT="188273" marB="188273">
                    <a:lnL w="12700" cmpd="sng">
                      <a:noFill/>
                      <a:prstDash val="solid"/>
                    </a:lnL>
                    <a:lnR w="12700" cmpd="sng">
                      <a:noFill/>
                      <a:prstDash val="solid"/>
                    </a:lnR>
                    <a:lnT w="38100" cmpd="sng">
                      <a:noFill/>
                    </a:lnT>
                    <a:lnB w="12700" cmpd="sng">
                      <a:noFill/>
                      <a:prstDash val="solid"/>
                    </a:lnB>
                    <a:noFill/>
                  </a:tcPr>
                </a:tc>
                <a:tc>
                  <a:txBody>
                    <a:bodyPr/>
                    <a:lstStyle/>
                    <a:p>
                      <a:r>
                        <a:rPr lang="en-US" sz="1800" cap="none" spc="0">
                          <a:solidFill>
                            <a:schemeClr val="tx1"/>
                          </a:solidFill>
                        </a:rPr>
                        <a:t>Peripheral Vision, Large</a:t>
                      </a:r>
                    </a:p>
                  </a:txBody>
                  <a:tcPr marL="188273" marR="188273" marT="188273" marB="188273">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4230017163"/>
                  </a:ext>
                </a:extLst>
              </a:tr>
              <a:tr h="698704">
                <a:tc>
                  <a:txBody>
                    <a:bodyPr/>
                    <a:lstStyle/>
                    <a:p>
                      <a:r>
                        <a:rPr lang="en-US" sz="1800" cap="none" spc="0">
                          <a:solidFill>
                            <a:schemeClr val="tx1"/>
                          </a:solidFill>
                        </a:rPr>
                        <a:t>3 receptors (color vision)</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800" cap="none" spc="0">
                          <a:solidFill>
                            <a:schemeClr val="tx1"/>
                          </a:solidFill>
                        </a:rPr>
                        <a:t>1 receptor (no color)</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1753148956"/>
                  </a:ext>
                </a:extLst>
              </a:tr>
              <a:tr h="698704">
                <a:tc>
                  <a:txBody>
                    <a:bodyPr/>
                    <a:lstStyle/>
                    <a:p>
                      <a:r>
                        <a:rPr lang="en-US" sz="1800" cap="none" spc="0">
                          <a:solidFill>
                            <a:schemeClr val="tx1"/>
                          </a:solidFill>
                        </a:rPr>
                        <a:t>Low Light Sensitivity</a:t>
                      </a:r>
                    </a:p>
                  </a:txBody>
                  <a:tcPr marL="188273" marR="188273" marT="188273" marB="18827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a:solidFill>
                            <a:schemeClr val="tx1"/>
                          </a:solidFill>
                        </a:rPr>
                        <a:t>High Light Sensitivity</a:t>
                      </a:r>
                    </a:p>
                  </a:txBody>
                  <a:tcPr marL="188273" marR="188273" marT="188273" marB="18827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01806197"/>
                  </a:ext>
                </a:extLst>
              </a:tr>
              <a:tr h="698704">
                <a:tc>
                  <a:txBody>
                    <a:bodyPr/>
                    <a:lstStyle/>
                    <a:p>
                      <a:r>
                        <a:rPr lang="en-US" sz="1800" cap="none" spc="0">
                          <a:solidFill>
                            <a:schemeClr val="tx1"/>
                          </a:solidFill>
                        </a:rPr>
                        <a:t>Slow (Low ISO)</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800" cap="none" spc="0">
                          <a:solidFill>
                            <a:schemeClr val="tx1"/>
                          </a:solidFill>
                        </a:rPr>
                        <a:t>Fast (High ISO)</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4030958283"/>
                  </a:ext>
                </a:extLst>
              </a:tr>
              <a:tr h="698704">
                <a:tc>
                  <a:txBody>
                    <a:bodyPr/>
                    <a:lstStyle/>
                    <a:p>
                      <a:r>
                        <a:rPr lang="en-US" sz="1800" cap="none" spc="0">
                          <a:solidFill>
                            <a:schemeClr val="tx1"/>
                          </a:solidFill>
                        </a:rPr>
                        <a:t>Parvocellular Pathway</a:t>
                      </a:r>
                    </a:p>
                  </a:txBody>
                  <a:tcPr marL="188273" marR="188273" marT="188273" marB="188273">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a:solidFill>
                            <a:schemeClr val="tx1"/>
                          </a:solidFill>
                        </a:rPr>
                        <a:t>Magnocellular Pathway</a:t>
                      </a:r>
                    </a:p>
                  </a:txBody>
                  <a:tcPr marL="188273" marR="188273" marT="188273" marB="188273">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30262984"/>
                  </a:ext>
                </a:extLst>
              </a:tr>
              <a:tr h="698704">
                <a:tc>
                  <a:txBody>
                    <a:bodyPr/>
                    <a:lstStyle/>
                    <a:p>
                      <a:r>
                        <a:rPr lang="en-US" sz="1800" cap="none" spc="0">
                          <a:solidFill>
                            <a:schemeClr val="tx1"/>
                          </a:solidFill>
                        </a:rPr>
                        <a:t>Ventral Visual Pathway (What)</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800" cap="none" spc="0">
                          <a:solidFill>
                            <a:schemeClr val="tx1"/>
                          </a:solidFill>
                        </a:rPr>
                        <a:t>Dorsal Visual Pathway (How)</a:t>
                      </a:r>
                    </a:p>
                  </a:txBody>
                  <a:tcPr marL="188273" marR="188273" marT="188273" marB="188273">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336314851"/>
                  </a:ext>
                </a:extLst>
              </a:tr>
            </a:tbl>
          </a:graphicData>
        </a:graphic>
      </p:graphicFrame>
    </p:spTree>
    <p:extLst>
      <p:ext uri="{BB962C8B-B14F-4D97-AF65-F5344CB8AC3E}">
        <p14:creationId xmlns:p14="http://schemas.microsoft.com/office/powerpoint/2010/main" val="4045038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A76B-5B57-4727-A67E-FA8042B7B867}"/>
              </a:ext>
            </a:extLst>
          </p:cNvPr>
          <p:cNvSpPr>
            <a:spLocks noGrp="1"/>
          </p:cNvSpPr>
          <p:nvPr>
            <p:ph type="title"/>
          </p:nvPr>
        </p:nvSpPr>
        <p:spPr/>
        <p:txBody>
          <a:bodyPr/>
          <a:lstStyle/>
          <a:p>
            <a:endParaRPr lang="en-US"/>
          </a:p>
        </p:txBody>
      </p:sp>
      <p:pic>
        <p:nvPicPr>
          <p:cNvPr id="6" name="Content Placeholder 5" descr="A close up of a map&#10;&#10;Description generated with very high confidence">
            <a:extLst>
              <a:ext uri="{FF2B5EF4-FFF2-40B4-BE49-F238E27FC236}">
                <a16:creationId xmlns:a16="http://schemas.microsoft.com/office/drawing/2014/main" id="{3B465013-C1F0-4013-AB9F-64EED1875F3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28228" y="1330036"/>
            <a:ext cx="5428343" cy="6527754"/>
          </a:xfrm>
        </p:spPr>
      </p:pic>
      <p:pic>
        <p:nvPicPr>
          <p:cNvPr id="4" name="Picture 3" descr="A close up of a map&#10;&#10;Description generated with high confidence">
            <a:extLst>
              <a:ext uri="{FF2B5EF4-FFF2-40B4-BE49-F238E27FC236}">
                <a16:creationId xmlns:a16="http://schemas.microsoft.com/office/drawing/2014/main" id="{CD039106-2A03-479D-AFE0-4291F463D3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489694"/>
            <a:ext cx="5105292" cy="4417620"/>
          </a:xfrm>
          <a:prstGeom prst="rect">
            <a:avLst/>
          </a:prstGeom>
        </p:spPr>
      </p:pic>
    </p:spTree>
    <p:extLst>
      <p:ext uri="{BB962C8B-B14F-4D97-AF65-F5344CB8AC3E}">
        <p14:creationId xmlns:p14="http://schemas.microsoft.com/office/powerpoint/2010/main" val="1925693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41B6-9C00-491D-85EB-B7A866CCF13C}"/>
              </a:ext>
            </a:extLst>
          </p:cNvPr>
          <p:cNvSpPr>
            <a:spLocks noGrp="1"/>
          </p:cNvSpPr>
          <p:nvPr>
            <p:ph type="title"/>
          </p:nvPr>
        </p:nvSpPr>
        <p:spPr>
          <a:xfrm>
            <a:off x="838200" y="0"/>
            <a:ext cx="10515600" cy="1325563"/>
          </a:xfrm>
        </p:spPr>
        <p:txBody>
          <a:bodyPr/>
          <a:lstStyle/>
          <a:p>
            <a:pPr algn="ctr"/>
            <a:r>
              <a:rPr lang="en-US" dirty="0"/>
              <a:t>Foveal vs. Peripheral Vision</a:t>
            </a:r>
          </a:p>
        </p:txBody>
      </p:sp>
      <p:pic>
        <p:nvPicPr>
          <p:cNvPr id="5" name="Content Placeholder 4" descr="A large room&#10;&#10;Description generated with high confidence">
            <a:extLst>
              <a:ext uri="{FF2B5EF4-FFF2-40B4-BE49-F238E27FC236}">
                <a16:creationId xmlns:a16="http://schemas.microsoft.com/office/drawing/2014/main" id="{C574734F-84AF-4601-A887-825053A778E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01374" y="956940"/>
            <a:ext cx="7283649" cy="4864499"/>
          </a:xfrm>
        </p:spPr>
      </p:pic>
      <p:sp>
        <p:nvSpPr>
          <p:cNvPr id="6" name="Oval 5">
            <a:extLst>
              <a:ext uri="{FF2B5EF4-FFF2-40B4-BE49-F238E27FC236}">
                <a16:creationId xmlns:a16="http://schemas.microsoft.com/office/drawing/2014/main" id="{2096EEDD-2083-4C3B-A613-E7691108DEDA}"/>
              </a:ext>
            </a:extLst>
          </p:cNvPr>
          <p:cNvSpPr/>
          <p:nvPr/>
        </p:nvSpPr>
        <p:spPr>
          <a:xfrm rot="317592">
            <a:off x="6264244" y="3181414"/>
            <a:ext cx="806631" cy="1436675"/>
          </a:xfrm>
          <a:prstGeom prst="ellipse">
            <a:avLst/>
          </a:prstGeom>
          <a:gradFill flip="none" rotWithShape="1">
            <a:gsLst>
              <a:gs pos="65000">
                <a:schemeClr val="tx1">
                  <a:lumMod val="50000"/>
                  <a:lumOff val="50000"/>
                  <a:alpha val="0"/>
                </a:schemeClr>
              </a:gs>
              <a:gs pos="28000">
                <a:schemeClr val="tx1">
                  <a:lumMod val="65000"/>
                  <a:lumOff val="35000"/>
                  <a:alpha val="8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339345A-6AB1-4ACC-A0C8-5A042465D042}"/>
              </a:ext>
            </a:extLst>
          </p:cNvPr>
          <p:cNvSpPr txBox="1"/>
          <p:nvPr/>
        </p:nvSpPr>
        <p:spPr>
          <a:xfrm>
            <a:off x="2582944" y="6027175"/>
            <a:ext cx="7409272" cy="369332"/>
          </a:xfrm>
          <a:prstGeom prst="rect">
            <a:avLst/>
          </a:prstGeom>
          <a:noFill/>
        </p:spPr>
        <p:txBody>
          <a:bodyPr wrap="none" rtlCol="0">
            <a:spAutoFit/>
          </a:bodyPr>
          <a:lstStyle/>
          <a:p>
            <a:r>
              <a:rPr lang="en-US" dirty="0"/>
              <a:t>Foveal Vision: 4-8°        Field of View: 205 °           Blind Spot: 5-6° hor. 7-8° ver.</a:t>
            </a:r>
          </a:p>
        </p:txBody>
      </p:sp>
    </p:spTree>
    <p:extLst>
      <p:ext uri="{BB962C8B-B14F-4D97-AF65-F5344CB8AC3E}">
        <p14:creationId xmlns:p14="http://schemas.microsoft.com/office/powerpoint/2010/main" val="317743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1C0E-A8AE-49A1-8984-31CE6AE52078}"/>
              </a:ext>
            </a:extLst>
          </p:cNvPr>
          <p:cNvSpPr>
            <a:spLocks noGrp="1"/>
          </p:cNvSpPr>
          <p:nvPr>
            <p:ph type="title"/>
          </p:nvPr>
        </p:nvSpPr>
        <p:spPr/>
        <p:txBody>
          <a:bodyPr/>
          <a:lstStyle/>
          <a:p>
            <a:endParaRPr lang="en-US"/>
          </a:p>
        </p:txBody>
      </p:sp>
      <p:pic>
        <p:nvPicPr>
          <p:cNvPr id="7" name="Picture 6" descr="A close up of a map&#10;&#10;Description generated with high confidence">
            <a:extLst>
              <a:ext uri="{FF2B5EF4-FFF2-40B4-BE49-F238E27FC236}">
                <a16:creationId xmlns:a16="http://schemas.microsoft.com/office/drawing/2014/main" id="{22B936B6-6B33-4B77-8D96-D96423472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434" y="261445"/>
            <a:ext cx="11380435" cy="6335110"/>
          </a:xfrm>
          <a:prstGeom prst="rect">
            <a:avLst/>
          </a:prstGeom>
        </p:spPr>
      </p:pic>
    </p:spTree>
    <p:extLst>
      <p:ext uri="{BB962C8B-B14F-4D97-AF65-F5344CB8AC3E}">
        <p14:creationId xmlns:p14="http://schemas.microsoft.com/office/powerpoint/2010/main" val="2001113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50445-62F2-4C13-8F1C-E4D3A13FA86A}"/>
              </a:ext>
            </a:extLst>
          </p:cNvPr>
          <p:cNvSpPr>
            <a:spLocks noGrp="1"/>
          </p:cNvSpPr>
          <p:nvPr>
            <p:ph type="title"/>
          </p:nvPr>
        </p:nvSpPr>
        <p:spPr/>
        <p:txBody>
          <a:bodyPr/>
          <a:lstStyle/>
          <a:p>
            <a:endParaRPr lang="en-US"/>
          </a:p>
        </p:txBody>
      </p:sp>
      <p:pic>
        <p:nvPicPr>
          <p:cNvPr id="5" name="Content Placeholder 4" descr="A close up of a map&#10;&#10;Description generated with high confidence">
            <a:extLst>
              <a:ext uri="{FF2B5EF4-FFF2-40B4-BE49-F238E27FC236}">
                <a16:creationId xmlns:a16="http://schemas.microsoft.com/office/drawing/2014/main" id="{ED44D669-4566-4F6E-921B-EA87E24C21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3266" y="365124"/>
            <a:ext cx="8286816" cy="6127751"/>
          </a:xfrm>
        </p:spPr>
      </p:pic>
    </p:spTree>
    <p:extLst>
      <p:ext uri="{BB962C8B-B14F-4D97-AF65-F5344CB8AC3E}">
        <p14:creationId xmlns:p14="http://schemas.microsoft.com/office/powerpoint/2010/main" val="3623719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E84EC-C242-44B3-A1EB-13A06E22C1F3}"/>
              </a:ext>
            </a:extLst>
          </p:cNvPr>
          <p:cNvSpPr>
            <a:spLocks noGrp="1"/>
          </p:cNvSpPr>
          <p:nvPr>
            <p:ph type="ctrTitle"/>
          </p:nvPr>
        </p:nvSpPr>
        <p:spPr>
          <a:xfrm>
            <a:off x="3045368" y="2043663"/>
            <a:ext cx="6105194" cy="2031055"/>
          </a:xfrm>
        </p:spPr>
        <p:txBody>
          <a:bodyPr>
            <a:normAutofit/>
          </a:bodyPr>
          <a:lstStyle/>
          <a:p>
            <a:r>
              <a:rPr lang="en-US" dirty="0">
                <a:solidFill>
                  <a:srgbClr val="FFFFFF"/>
                </a:solidFill>
              </a:rPr>
              <a:t>How does this work?</a:t>
            </a:r>
          </a:p>
        </p:txBody>
      </p:sp>
      <p:sp>
        <p:nvSpPr>
          <p:cNvPr id="3" name="Subtitle 2">
            <a:extLst>
              <a:ext uri="{FF2B5EF4-FFF2-40B4-BE49-F238E27FC236}">
                <a16:creationId xmlns:a16="http://schemas.microsoft.com/office/drawing/2014/main" id="{1E537109-415E-4B42-97BE-E495DEF8CA5C}"/>
              </a:ext>
            </a:extLst>
          </p:cNvPr>
          <p:cNvSpPr>
            <a:spLocks noGrp="1"/>
          </p:cNvSpPr>
          <p:nvPr>
            <p:ph type="subTitle" idx="1"/>
          </p:nvPr>
        </p:nvSpPr>
        <p:spPr>
          <a:xfrm>
            <a:off x="3045368" y="4074718"/>
            <a:ext cx="6105194" cy="682079"/>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3805493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763" y="1257114"/>
            <a:ext cx="3363974" cy="3415622"/>
          </a:xfrm>
        </p:spPr>
        <p:txBody>
          <a:bodyPr>
            <a:normAutofit/>
          </a:bodyPr>
          <a:lstStyle/>
          <a:p>
            <a:pPr marL="0" indent="0">
              <a:spcBef>
                <a:spcPct val="30000"/>
              </a:spcBef>
              <a:buNone/>
            </a:pPr>
            <a:r>
              <a:rPr lang="en-US" altLang="en-US" sz="2000" dirty="0">
                <a:solidFill>
                  <a:schemeClr val="bg1"/>
                </a:solidFill>
                <a:latin typeface="Arial" pitchFamily="34" charset="0"/>
                <a:ea typeface="ＭＳ Ｐゴシック" pitchFamily="34" charset="-128"/>
              </a:rPr>
              <a:t>Gestalt Psychology</a:t>
            </a:r>
          </a:p>
          <a:p>
            <a:pPr marL="457200" lvl="1" indent="0">
              <a:spcBef>
                <a:spcPct val="30000"/>
              </a:spcBef>
              <a:buNone/>
            </a:pPr>
            <a:r>
              <a:rPr lang="en-US" altLang="en-US" sz="2000" b="1" dirty="0">
                <a:solidFill>
                  <a:schemeClr val="bg1"/>
                </a:solidFill>
                <a:latin typeface="Arial" pitchFamily="34" charset="0"/>
                <a:ea typeface="ＭＳ Ｐゴシック" pitchFamily="34" charset="-128"/>
              </a:rPr>
              <a:t>The whole differs from the sum of its parts</a:t>
            </a:r>
          </a:p>
          <a:p>
            <a:pPr lvl="1">
              <a:spcBef>
                <a:spcPct val="30000"/>
              </a:spcBef>
            </a:pPr>
            <a:endParaRPr lang="en-US" altLang="en-US" sz="2000" dirty="0">
              <a:solidFill>
                <a:schemeClr val="bg1"/>
              </a:solidFill>
              <a:latin typeface="Arial" pitchFamily="34" charset="0"/>
              <a:ea typeface="ＭＳ Ｐゴシック" pitchFamily="34" charset="-128"/>
            </a:endParaRPr>
          </a:p>
          <a:p>
            <a:endParaRPr lang="en-US" sz="2000" dirty="0">
              <a:solidFill>
                <a:schemeClr val="bg1"/>
              </a:solidFill>
            </a:endParaRPr>
          </a:p>
        </p:txBody>
      </p:sp>
      <p:pic>
        <p:nvPicPr>
          <p:cNvPr id="5" name="Picture 4"/>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9499" y="0"/>
            <a:ext cx="8572501" cy="6858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040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Illusory Contours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p:cNvPicPr>
          <p:nvPr/>
        </p:nvPicPr>
        <p:blipFill rotWithShape="1">
          <a:blip r:embed="rId2">
            <a:extLst>
              <a:ext uri="{28A0092B-C50C-407E-A947-70E740481C1C}">
                <a14:useLocalDpi xmlns:a14="http://schemas.microsoft.com/office/drawing/2010/main" val="0"/>
              </a:ext>
            </a:extLst>
          </a:blip>
          <a:srcRect b="69591"/>
          <a:stretch/>
        </p:blipFill>
        <p:spPr bwMode="auto">
          <a:xfrm>
            <a:off x="406400" y="2590801"/>
            <a:ext cx="3191933"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p:cNvPicPr>
          <p:nvPr/>
        </p:nvPicPr>
        <p:blipFill rotWithShape="1">
          <a:blip r:embed="rId2">
            <a:extLst>
              <a:ext uri="{28A0092B-C50C-407E-A947-70E740481C1C}">
                <a14:useLocalDpi xmlns:a14="http://schemas.microsoft.com/office/drawing/2010/main" val="0"/>
              </a:ext>
            </a:extLst>
          </a:blip>
          <a:srcRect l="-398" t="65497" r="398" b="2114"/>
          <a:stretch/>
        </p:blipFill>
        <p:spPr bwMode="auto">
          <a:xfrm>
            <a:off x="8331200" y="2413000"/>
            <a:ext cx="3191933" cy="301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p:cNvPicPr>
          <p:nvPr/>
        </p:nvPicPr>
        <p:blipFill rotWithShape="1">
          <a:blip r:embed="rId2">
            <a:extLst>
              <a:ext uri="{28A0092B-C50C-407E-A947-70E740481C1C}">
                <a14:useLocalDpi xmlns:a14="http://schemas.microsoft.com/office/drawing/2010/main" val="0"/>
              </a:ext>
            </a:extLst>
          </a:blip>
          <a:srcRect t="32885" b="34726"/>
          <a:stretch/>
        </p:blipFill>
        <p:spPr bwMode="auto">
          <a:xfrm>
            <a:off x="4267200" y="2413000"/>
            <a:ext cx="3191933" cy="301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8121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Good Continuation</a:t>
            </a:r>
          </a:p>
        </p:txBody>
      </p:sp>
      <p:sp>
        <p:nvSpPr>
          <p:cNvPr id="3" name="Content Placeholder 2"/>
          <p:cNvSpPr>
            <a:spLocks noGrp="1"/>
          </p:cNvSpPr>
          <p:nvPr>
            <p:ph idx="1"/>
          </p:nvPr>
        </p:nvSpPr>
        <p:spPr/>
        <p:txBody>
          <a:bodyPr/>
          <a:lstStyle/>
          <a:p>
            <a:endParaRPr lang="en-US" dirty="0"/>
          </a:p>
        </p:txBody>
      </p:sp>
      <p:pic>
        <p:nvPicPr>
          <p:cNvPr id="4" name="Picture 3"/>
          <p:cNvPicPr>
            <a:picLocks/>
          </p:cNvPicPr>
          <p:nvPr/>
        </p:nvPicPr>
        <p:blipFill rotWithShape="1">
          <a:blip r:embed="rId2">
            <a:extLst>
              <a:ext uri="{28A0092B-C50C-407E-A947-70E740481C1C}">
                <a14:useLocalDpi xmlns:a14="http://schemas.microsoft.com/office/drawing/2010/main" val="0"/>
              </a:ext>
            </a:extLst>
          </a:blip>
          <a:srcRect b="8947"/>
          <a:stretch/>
        </p:blipFill>
        <p:spPr bwMode="auto">
          <a:xfrm>
            <a:off x="-5689600" y="1905000"/>
            <a:ext cx="11514667"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905000"/>
            <a:ext cx="6009216"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1902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49072"/>
            <a:ext cx="10972800" cy="1252728"/>
          </a:xfrm>
        </p:spPr>
        <p:txBody>
          <a:bodyPr>
            <a:noAutofit/>
          </a:bodyPr>
          <a:lstStyle/>
          <a:p>
            <a:r>
              <a:rPr lang="en-US" sz="4267" dirty="0" err="1"/>
              <a:t>Pragnanz</a:t>
            </a:r>
            <a:r>
              <a:rPr lang="en-US" sz="4267" dirty="0"/>
              <a:t> (Good Figure)</a:t>
            </a:r>
            <a:br>
              <a:rPr lang="en-US" sz="5333" dirty="0"/>
            </a:br>
            <a:endParaRPr lang="en-US" sz="4267" dirty="0"/>
          </a:p>
        </p:txBody>
      </p:sp>
      <p:sp>
        <p:nvSpPr>
          <p:cNvPr id="3" name="Content Placeholder 2"/>
          <p:cNvSpPr>
            <a:spLocks noGrp="1"/>
          </p:cNvSpPr>
          <p:nvPr>
            <p:ph idx="1"/>
          </p:nvPr>
        </p:nvSpPr>
        <p:spPr/>
        <p:txBody>
          <a:bodyPr/>
          <a:lstStyle/>
          <a:p>
            <a:endParaRPr lang="en-US"/>
          </a:p>
        </p:txBody>
      </p:sp>
      <p:pic>
        <p:nvPicPr>
          <p:cNvPr id="4" name="Picture 3"/>
          <p:cNvPicPr>
            <a:picLocks/>
          </p:cNvPicPr>
          <p:nvPr/>
        </p:nvPicPr>
        <p:blipFill rotWithShape="1">
          <a:blip r:embed="rId2" cstate="print">
            <a:extLst>
              <a:ext uri="{28A0092B-C50C-407E-A947-70E740481C1C}">
                <a14:useLocalDpi xmlns:a14="http://schemas.microsoft.com/office/drawing/2010/main" val="0"/>
              </a:ext>
            </a:extLst>
          </a:blip>
          <a:srcRect l="5064" t="-4028" r="-5064" b="53401"/>
          <a:stretch/>
        </p:blipFill>
        <p:spPr bwMode="auto">
          <a:xfrm>
            <a:off x="3275874" y="2422000"/>
            <a:ext cx="6046651" cy="278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a:xfrm>
            <a:off x="812800" y="358648"/>
            <a:ext cx="10972800" cy="1252728"/>
          </a:xfrm>
          <a:prstGeom prst="rect">
            <a:avLst/>
          </a:prstGeom>
        </p:spPr>
        <p:txBody>
          <a:bodyPr vert="horz" lIns="121920" rIns="60960" rtlCol="0" anchor="ctr">
            <a:no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a:lstStyle>
          <a:p>
            <a:endParaRPr lang="en-US" sz="4800" dirty="0"/>
          </a:p>
        </p:txBody>
      </p:sp>
    </p:spTree>
    <p:extLst>
      <p:ext uri="{BB962C8B-B14F-4D97-AF65-F5344CB8AC3E}">
        <p14:creationId xmlns:p14="http://schemas.microsoft.com/office/powerpoint/2010/main" val="3451724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49072"/>
            <a:ext cx="10972800" cy="1252728"/>
          </a:xfrm>
        </p:spPr>
        <p:txBody>
          <a:bodyPr>
            <a:noAutofit/>
          </a:bodyPr>
          <a:lstStyle/>
          <a:p>
            <a:r>
              <a:rPr lang="en-US" sz="4267" dirty="0" err="1"/>
              <a:t>Pragnanz</a:t>
            </a:r>
            <a:r>
              <a:rPr lang="en-US" sz="4267" dirty="0"/>
              <a:t> (Good Figure)</a:t>
            </a:r>
            <a:br>
              <a:rPr lang="en-US" sz="5333" dirty="0"/>
            </a:br>
            <a:endParaRPr lang="en-US" sz="4267" dirty="0"/>
          </a:p>
        </p:txBody>
      </p:sp>
      <p:sp>
        <p:nvSpPr>
          <p:cNvPr id="3" name="Content Placeholder 2"/>
          <p:cNvSpPr>
            <a:spLocks noGrp="1"/>
          </p:cNvSpPr>
          <p:nvPr>
            <p:ph idx="1"/>
          </p:nvPr>
        </p:nvSpPr>
        <p:spPr/>
        <p:txBody>
          <a:bodyPr/>
          <a:lstStyle/>
          <a:p>
            <a:endParaRPr lang="en-US"/>
          </a:p>
        </p:txBody>
      </p:sp>
      <p:pic>
        <p:nvPicPr>
          <p:cNvPr id="4" name="Picture 3"/>
          <p:cNvPicPr>
            <a:picLocks/>
          </p:cNvPicPr>
          <p:nvPr/>
        </p:nvPicPr>
        <p:blipFill rotWithShape="1">
          <a:blip r:embed="rId2" cstate="print">
            <a:extLst>
              <a:ext uri="{28A0092B-C50C-407E-A947-70E740481C1C}">
                <a14:useLocalDpi xmlns:a14="http://schemas.microsoft.com/office/drawing/2010/main" val="0"/>
              </a:ext>
            </a:extLst>
          </a:blip>
          <a:srcRect l="5064" t="-4028" r="-5064" b="53401"/>
          <a:stretch/>
        </p:blipFill>
        <p:spPr bwMode="auto">
          <a:xfrm>
            <a:off x="252549" y="2517793"/>
            <a:ext cx="6046651" cy="278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a:xfrm>
            <a:off x="812800" y="358648"/>
            <a:ext cx="10972800" cy="1252728"/>
          </a:xfrm>
          <a:prstGeom prst="rect">
            <a:avLst/>
          </a:prstGeom>
        </p:spPr>
        <p:txBody>
          <a:bodyPr vert="horz" lIns="121920" rIns="60960" rtlCol="0" anchor="ctr">
            <a:no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a:lstStyle>
          <a:p>
            <a:endParaRPr lang="en-US" sz="4800" dirty="0"/>
          </a:p>
        </p:txBody>
      </p:sp>
      <p:pic>
        <p:nvPicPr>
          <p:cNvPr id="6" name="Picture 5">
            <a:extLst>
              <a:ext uri="{FF2B5EF4-FFF2-40B4-BE49-F238E27FC236}">
                <a16:creationId xmlns:a16="http://schemas.microsoft.com/office/drawing/2014/main" id="{3B4DC42F-58B7-42CE-86CD-B7DA5E18B21F}"/>
              </a:ext>
            </a:extLst>
          </p:cNvPr>
          <p:cNvPicPr>
            <a:picLocks/>
          </p:cNvPicPr>
          <p:nvPr/>
        </p:nvPicPr>
        <p:blipFill rotWithShape="1">
          <a:blip r:embed="rId2" cstate="print">
            <a:extLst>
              <a:ext uri="{28A0092B-C50C-407E-A947-70E740481C1C}">
                <a14:useLocalDpi xmlns:a14="http://schemas.microsoft.com/office/drawing/2010/main" val="0"/>
              </a:ext>
            </a:extLst>
          </a:blip>
          <a:srcRect t="46985" b="2388"/>
          <a:stretch/>
        </p:blipFill>
        <p:spPr bwMode="auto">
          <a:xfrm>
            <a:off x="6096000" y="2478932"/>
            <a:ext cx="6046651" cy="278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2003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Gestalt </a:t>
            </a:r>
            <a:r>
              <a:rPr lang="en-US" dirty="0"/>
              <a:t>Principles </a:t>
            </a:r>
            <a:r>
              <a:rPr lang="en-US"/>
              <a:t>- Proximity</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3601" y="1600201"/>
            <a:ext cx="7903633" cy="4993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7735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333"/>
              <a:t>Gestalt </a:t>
            </a:r>
            <a:r>
              <a:rPr lang="en-US" sz="5333" dirty="0"/>
              <a:t>Principles – Common Region</a:t>
            </a:r>
          </a:p>
        </p:txBody>
      </p:sp>
      <p:sp>
        <p:nvSpPr>
          <p:cNvPr id="3" name="Content Placeholder 2"/>
          <p:cNvSpPr>
            <a:spLocks noGrp="1"/>
          </p:cNvSpPr>
          <p:nvPr>
            <p:ph idx="1"/>
          </p:nvPr>
        </p:nvSpPr>
        <p:spPr/>
        <p:txBody>
          <a:bodyPr/>
          <a:lstStyle/>
          <a:p>
            <a:endParaRPr lang="en-US"/>
          </a:p>
        </p:txBody>
      </p:sp>
      <p:pic>
        <p:nvPicPr>
          <p:cNvPr id="4" name="Picture 3"/>
          <p:cNvPicPr>
            <a:picLocks/>
          </p:cNvPicPr>
          <p:nvPr/>
        </p:nvPicPr>
        <p:blipFill rotWithShape="1">
          <a:blip r:embed="rId2">
            <a:extLst>
              <a:ext uri="{28A0092B-C50C-407E-A947-70E740481C1C}">
                <a14:useLocalDpi xmlns:a14="http://schemas.microsoft.com/office/drawing/2010/main" val="0"/>
              </a:ext>
            </a:extLst>
          </a:blip>
          <a:srcRect l="6103" b="46552"/>
          <a:stretch/>
        </p:blipFill>
        <p:spPr bwMode="auto">
          <a:xfrm>
            <a:off x="711200" y="2819400"/>
            <a:ext cx="10811933"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2903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333"/>
              <a:t>Gestalt </a:t>
            </a:r>
            <a:r>
              <a:rPr lang="en-US" sz="5333" dirty="0"/>
              <a:t>Principles </a:t>
            </a:r>
            <a:r>
              <a:rPr lang="en-US" sz="5333"/>
              <a:t>– Connectedness</a:t>
            </a:r>
            <a:endParaRPr lang="en-US" sz="5333" dirty="0"/>
          </a:p>
        </p:txBody>
      </p:sp>
      <p:sp>
        <p:nvSpPr>
          <p:cNvPr id="3" name="Content Placeholder 2"/>
          <p:cNvSpPr>
            <a:spLocks noGrp="1"/>
          </p:cNvSpPr>
          <p:nvPr>
            <p:ph idx="1"/>
          </p:nvPr>
        </p:nvSpPr>
        <p:spPr/>
        <p:txBody>
          <a:bodyPr/>
          <a:lstStyle/>
          <a:p>
            <a:endParaRPr lang="en-US" dirty="0"/>
          </a:p>
        </p:txBody>
      </p:sp>
      <p:pic>
        <p:nvPicPr>
          <p:cNvPr id="4" name="Picture 3"/>
          <p:cNvPicPr>
            <a:picLocks/>
          </p:cNvPicPr>
          <p:nvPr/>
        </p:nvPicPr>
        <p:blipFill rotWithShape="1">
          <a:blip r:embed="rId2">
            <a:extLst>
              <a:ext uri="{28A0092B-C50C-407E-A947-70E740481C1C}">
                <a14:useLocalDpi xmlns:a14="http://schemas.microsoft.com/office/drawing/2010/main" val="0"/>
              </a:ext>
            </a:extLst>
          </a:blip>
          <a:srcRect l="8309" t="52299"/>
          <a:stretch/>
        </p:blipFill>
        <p:spPr bwMode="auto">
          <a:xfrm>
            <a:off x="812800" y="3022600"/>
            <a:ext cx="10557933"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609600" y="4953000"/>
            <a:ext cx="7112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45735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5E8268-F20D-4B3C-AEDC-348DA0F313DA}"/>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40AA2EDD-08AB-4CCB-942A-BF8BF8D1C4A5}"/>
              </a:ext>
            </a:extLst>
          </p:cNvPr>
          <p:cNvPicPr>
            <a:picLocks noChangeAspect="1"/>
          </p:cNvPicPr>
          <p:nvPr/>
        </p:nvPicPr>
        <p:blipFill rotWithShape="1">
          <a:blip r:embed="rId2"/>
          <a:srcRect l="14540" t="15643" r="14439" b="5428"/>
          <a:stretch/>
        </p:blipFill>
        <p:spPr>
          <a:xfrm>
            <a:off x="1772816" y="1138335"/>
            <a:ext cx="8658807" cy="5262465"/>
          </a:xfrm>
          <a:prstGeom prst="rect">
            <a:avLst/>
          </a:prstGeom>
        </p:spPr>
      </p:pic>
      <p:sp>
        <p:nvSpPr>
          <p:cNvPr id="6" name="Title 5">
            <a:extLst>
              <a:ext uri="{FF2B5EF4-FFF2-40B4-BE49-F238E27FC236}">
                <a16:creationId xmlns:a16="http://schemas.microsoft.com/office/drawing/2014/main" id="{554E1DEA-4BAF-4EA3-889F-EDCE0D3F05E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237923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0CDD-3172-4F86-9995-E84854C15A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C1F9CB-3CE9-48D0-8213-DBE219F995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85456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BEC3-B9AD-4097-B802-B9B2240760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DD607E-3AC7-4EB2-BA14-DD8EA8062342}"/>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6BD8F1B-AD74-48E1-ADC8-A4A3EE83666A}"/>
              </a:ext>
            </a:extLst>
          </p:cNvPr>
          <p:cNvPicPr>
            <a:picLocks noChangeAspect="1"/>
          </p:cNvPicPr>
          <p:nvPr/>
        </p:nvPicPr>
        <p:blipFill rotWithShape="1">
          <a:blip r:embed="rId2"/>
          <a:srcRect l="14311" t="16764" r="14592" b="5569"/>
          <a:stretch/>
        </p:blipFill>
        <p:spPr>
          <a:xfrm>
            <a:off x="1744824" y="1212980"/>
            <a:ext cx="8668139" cy="5178489"/>
          </a:xfrm>
          <a:prstGeom prst="rect">
            <a:avLst/>
          </a:prstGeom>
        </p:spPr>
      </p:pic>
    </p:spTree>
    <p:extLst>
      <p:ext uri="{BB962C8B-B14F-4D97-AF65-F5344CB8AC3E}">
        <p14:creationId xmlns:p14="http://schemas.microsoft.com/office/powerpoint/2010/main" val="3812457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mall boat in a body of water&#10;&#10;Description generated with very high confidence">
            <a:extLst>
              <a:ext uri="{FF2B5EF4-FFF2-40B4-BE49-F238E27FC236}">
                <a16:creationId xmlns:a16="http://schemas.microsoft.com/office/drawing/2014/main" id="{EB472F0F-E9EF-4DEF-80A6-41140FAE098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50000"/>
          <a:stretch/>
        </p:blipFill>
        <p:spPr>
          <a:xfrm>
            <a:off x="1523222" y="-1166"/>
            <a:ext cx="9145555" cy="6859166"/>
          </a:xfrm>
        </p:spPr>
      </p:pic>
      <p:sp>
        <p:nvSpPr>
          <p:cNvPr id="6" name="Title 5">
            <a:extLst>
              <a:ext uri="{FF2B5EF4-FFF2-40B4-BE49-F238E27FC236}">
                <a16:creationId xmlns:a16="http://schemas.microsoft.com/office/drawing/2014/main" id="{554E1DEA-4BAF-4EA3-889F-EDCE0D3F05E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166869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0CDD-3172-4F86-9995-E84854C15AD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C1F9CB-3CE9-48D0-8213-DBE219F995A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4029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mall boat in a body of water&#10;&#10;Description generated with very high confidence">
            <a:extLst>
              <a:ext uri="{FF2B5EF4-FFF2-40B4-BE49-F238E27FC236}">
                <a16:creationId xmlns:a16="http://schemas.microsoft.com/office/drawing/2014/main" id="{EB472F0F-E9EF-4DEF-80A6-41140FAE098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9983" r="17"/>
          <a:stretch/>
        </p:blipFill>
        <p:spPr>
          <a:xfrm>
            <a:off x="1523222" y="-1166"/>
            <a:ext cx="9145555" cy="6859166"/>
          </a:xfrm>
        </p:spPr>
      </p:pic>
      <p:sp>
        <p:nvSpPr>
          <p:cNvPr id="6" name="Title 5">
            <a:extLst>
              <a:ext uri="{FF2B5EF4-FFF2-40B4-BE49-F238E27FC236}">
                <a16:creationId xmlns:a16="http://schemas.microsoft.com/office/drawing/2014/main" id="{554E1DEA-4BAF-4EA3-889F-EDCE0D3F05E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73523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306C6-976F-4BCF-9673-997696DDCF7B}"/>
              </a:ext>
            </a:extLst>
          </p:cNvPr>
          <p:cNvSpPr>
            <a:spLocks noGrp="1"/>
          </p:cNvSpPr>
          <p:nvPr>
            <p:ph type="title"/>
          </p:nvPr>
        </p:nvSpPr>
        <p:spPr/>
        <p:txBody>
          <a:bodyPr/>
          <a:lstStyle/>
          <a:p>
            <a:r>
              <a:rPr lang="en-US" dirty="0"/>
              <a:t>Change Blindness</a:t>
            </a:r>
          </a:p>
        </p:txBody>
      </p:sp>
      <p:sp>
        <p:nvSpPr>
          <p:cNvPr id="3" name="Content Placeholder 2">
            <a:extLst>
              <a:ext uri="{FF2B5EF4-FFF2-40B4-BE49-F238E27FC236}">
                <a16:creationId xmlns:a16="http://schemas.microsoft.com/office/drawing/2014/main" id="{4C344004-9202-486F-A454-A7E7CEAD4C98}"/>
              </a:ext>
            </a:extLst>
          </p:cNvPr>
          <p:cNvSpPr>
            <a:spLocks noGrp="1"/>
          </p:cNvSpPr>
          <p:nvPr>
            <p:ph idx="1"/>
          </p:nvPr>
        </p:nvSpPr>
        <p:spPr/>
        <p:txBody>
          <a:bodyPr/>
          <a:lstStyle/>
          <a:p>
            <a:r>
              <a:rPr lang="en-US" dirty="0"/>
              <a:t>Perceptual phenomenon that occurs when a change in a visual stimulus is introduced and the observer does not notice it</a:t>
            </a:r>
          </a:p>
          <a:p>
            <a:endParaRPr lang="en-US" dirty="0"/>
          </a:p>
          <a:p>
            <a:r>
              <a:rPr lang="en-US" dirty="0"/>
              <a:t>Demo at gocognitive.net (Dr. Steffen Werner, UI)</a:t>
            </a:r>
          </a:p>
        </p:txBody>
      </p:sp>
    </p:spTree>
    <p:extLst>
      <p:ext uri="{BB962C8B-B14F-4D97-AF65-F5344CB8AC3E}">
        <p14:creationId xmlns:p14="http://schemas.microsoft.com/office/powerpoint/2010/main" val="1631426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793F2-7CE9-D44C-8BC7-960D15FDF0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0A8407-608B-DB44-9140-826E26C880D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FAE0C2A-AD5E-084F-A7D0-5A6CAF7A404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31393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EF36A-600B-489E-9EFF-85EC0D2B8AC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9D69BBF8-17EB-46BF-A45B-D9A5541F2325}"/>
              </a:ext>
            </a:extLst>
          </p:cNvPr>
          <p:cNvSpPr>
            <a:spLocks noGrp="1"/>
          </p:cNvSpPr>
          <p:nvPr>
            <p:ph idx="1"/>
          </p:nvPr>
        </p:nvSpPr>
        <p:spPr/>
        <p:txBody>
          <a:bodyPr/>
          <a:lstStyle/>
          <a:p>
            <a:r>
              <a:rPr lang="en-US" dirty="0"/>
              <a:t>Human visual processing and cognition is complex with unique strengths and weaknesses</a:t>
            </a:r>
          </a:p>
          <a:p>
            <a:r>
              <a:rPr lang="en-US" dirty="0"/>
              <a:t>We don’t see the world as it is, but as influenced by our sensory abilities and top-down processing</a:t>
            </a:r>
          </a:p>
        </p:txBody>
      </p:sp>
    </p:spTree>
    <p:extLst>
      <p:ext uri="{BB962C8B-B14F-4D97-AF65-F5344CB8AC3E}">
        <p14:creationId xmlns:p14="http://schemas.microsoft.com/office/powerpoint/2010/main" val="3291433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11E502C-4BEF-4538-849B-C3A04ADF34C7}"/>
              </a:ext>
            </a:extLst>
          </p:cNvPr>
          <p:cNvSpPr/>
          <p:nvPr/>
        </p:nvSpPr>
        <p:spPr>
          <a:xfrm>
            <a:off x="362857" y="319314"/>
            <a:ext cx="11466286" cy="6183086"/>
          </a:xfrm>
          <a:prstGeom prst="rect">
            <a:avLst/>
          </a:prstGeom>
          <a:solidFill>
            <a:schemeClr val="bg1">
              <a:lumMod val="8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20816" y="979713"/>
            <a:ext cx="6766078" cy="4927601"/>
          </a:xfrm>
        </p:spPr>
        <p:txBody>
          <a:bodyPr vert="horz" lIns="91440" tIns="45720" rIns="91440" bIns="45720" rtlCol="0" anchor="ctr">
            <a:normAutofit/>
          </a:bodyPr>
          <a:lstStyle/>
          <a:p>
            <a:r>
              <a:rPr lang="en-US" sz="5400" i="1" kern="1200" dirty="0">
                <a:solidFill>
                  <a:schemeClr val="tx1">
                    <a:lumMod val="85000"/>
                    <a:lumOff val="15000"/>
                  </a:schemeClr>
                </a:solidFill>
                <a:latin typeface="+mj-lt"/>
                <a:ea typeface="+mj-ea"/>
                <a:cs typeface="+mj-cs"/>
              </a:rPr>
              <a:t>Design is Theory Working Backwards</a:t>
            </a:r>
          </a:p>
        </p:txBody>
      </p:sp>
      <p:graphicFrame>
        <p:nvGraphicFramePr>
          <p:cNvPr id="11" name="Content Placeholder 3">
            <a:extLst>
              <a:ext uri="{FF2B5EF4-FFF2-40B4-BE49-F238E27FC236}">
                <a16:creationId xmlns:a16="http://schemas.microsoft.com/office/drawing/2014/main" id="{3BE55B9D-FB9E-46F5-B99A-FCC5581A55DA}"/>
              </a:ext>
            </a:extLst>
          </p:cNvPr>
          <p:cNvGraphicFramePr>
            <a:graphicFrameLocks noGrp="1"/>
          </p:cNvGraphicFramePr>
          <p:nvPr>
            <p:ph idx="1"/>
          </p:nvPr>
        </p:nvGraphicFramePr>
        <p:xfrm>
          <a:off x="-1641374" y="1828143"/>
          <a:ext cx="7737374" cy="3201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9116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p:cNvSpPr/>
          <p:nvPr/>
        </p:nvSpPr>
        <p:spPr>
          <a:xfrm>
            <a:off x="8144267" y="2441208"/>
            <a:ext cx="3962400" cy="40640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Rectangle 67"/>
          <p:cNvSpPr/>
          <p:nvPr/>
        </p:nvSpPr>
        <p:spPr>
          <a:xfrm>
            <a:off x="53613" y="2441208"/>
            <a:ext cx="3962400" cy="40640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p:txBody>
          <a:bodyPr/>
          <a:lstStyle/>
          <a:p>
            <a:r>
              <a:rPr lang="en-US" dirty="0"/>
              <a:t>Global </a:t>
            </a:r>
            <a:r>
              <a:rPr lang="en-US"/>
              <a:t>(Holistic</a:t>
            </a:r>
            <a:r>
              <a:rPr lang="en-US" dirty="0"/>
              <a:t>) Processing</a:t>
            </a:r>
          </a:p>
        </p:txBody>
      </p:sp>
      <p:grpSp>
        <p:nvGrpSpPr>
          <p:cNvPr id="8" name="Group 7"/>
          <p:cNvGrpSpPr/>
          <p:nvPr/>
        </p:nvGrpSpPr>
        <p:grpSpPr>
          <a:xfrm>
            <a:off x="561613" y="3997967"/>
            <a:ext cx="711200" cy="711200"/>
            <a:chOff x="381000" y="2495550"/>
            <a:chExt cx="838200" cy="838200"/>
          </a:xfrm>
        </p:grpSpPr>
        <p:sp>
          <p:nvSpPr>
            <p:cNvPr id="9" name="Oval 8"/>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0" name="Straight Arrow Connector 9"/>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1476013" y="3997967"/>
            <a:ext cx="711200" cy="711200"/>
            <a:chOff x="381000" y="2495550"/>
            <a:chExt cx="838200" cy="838200"/>
          </a:xfrm>
        </p:grpSpPr>
        <p:sp>
          <p:nvSpPr>
            <p:cNvPr id="12" name="Oval 11"/>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3" name="Straight Arrow Connector 12"/>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561613" y="2847608"/>
            <a:ext cx="711200" cy="711200"/>
            <a:chOff x="381000" y="2495550"/>
            <a:chExt cx="838200" cy="838200"/>
          </a:xfrm>
        </p:grpSpPr>
        <p:sp>
          <p:nvSpPr>
            <p:cNvPr id="15" name="Oval 14"/>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6" name="Straight Arrow Connector 15"/>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1496795" y="2847608"/>
            <a:ext cx="711200" cy="711200"/>
            <a:chOff x="381000" y="2495550"/>
            <a:chExt cx="838200" cy="838200"/>
          </a:xfrm>
        </p:grpSpPr>
        <p:sp>
          <p:nvSpPr>
            <p:cNvPr id="18" name="Oval 17"/>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9" name="Straight Arrow Connector 18"/>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0" name="Rectangle 19"/>
          <p:cNvSpPr/>
          <p:nvPr/>
        </p:nvSpPr>
        <p:spPr>
          <a:xfrm>
            <a:off x="2695213" y="30900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p:cNvSpPr/>
          <p:nvPr/>
        </p:nvSpPr>
        <p:spPr>
          <a:xfrm>
            <a:off x="2695213" y="429699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p:cNvSpPr/>
          <p:nvPr/>
        </p:nvSpPr>
        <p:spPr>
          <a:xfrm>
            <a:off x="663213" y="55792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22"/>
          <p:cNvSpPr/>
          <p:nvPr/>
        </p:nvSpPr>
        <p:spPr>
          <a:xfrm>
            <a:off x="1628413" y="55792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23"/>
          <p:cNvSpPr/>
          <p:nvPr/>
        </p:nvSpPr>
        <p:spPr>
          <a:xfrm>
            <a:off x="2644413" y="55792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Rectangle 24"/>
          <p:cNvSpPr/>
          <p:nvPr/>
        </p:nvSpPr>
        <p:spPr>
          <a:xfrm>
            <a:off x="663213" y="59856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Rectangle 25"/>
          <p:cNvSpPr/>
          <p:nvPr/>
        </p:nvSpPr>
        <p:spPr>
          <a:xfrm>
            <a:off x="1628413" y="59856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Rectangle 26"/>
          <p:cNvSpPr/>
          <p:nvPr/>
        </p:nvSpPr>
        <p:spPr>
          <a:xfrm>
            <a:off x="2644413" y="598566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48" name="Group 47"/>
          <p:cNvGrpSpPr/>
          <p:nvPr/>
        </p:nvGrpSpPr>
        <p:grpSpPr>
          <a:xfrm>
            <a:off x="8888948" y="4260771"/>
            <a:ext cx="711200" cy="711200"/>
            <a:chOff x="381000" y="2495550"/>
            <a:chExt cx="838200" cy="838200"/>
          </a:xfrm>
        </p:grpSpPr>
        <p:sp>
          <p:nvSpPr>
            <p:cNvPr id="49" name="Oval 48"/>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50" name="Straight Arrow Connector 49"/>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1" name="Group 50"/>
          <p:cNvGrpSpPr/>
          <p:nvPr/>
        </p:nvGrpSpPr>
        <p:grpSpPr>
          <a:xfrm>
            <a:off x="9963831" y="4057571"/>
            <a:ext cx="711200" cy="711200"/>
            <a:chOff x="381000" y="2495550"/>
            <a:chExt cx="838200" cy="838200"/>
          </a:xfrm>
        </p:grpSpPr>
        <p:sp>
          <p:nvSpPr>
            <p:cNvPr id="52" name="Oval 51"/>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53" name="Straight Arrow Connector 52"/>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8868167" y="2832599"/>
            <a:ext cx="711200" cy="711200"/>
            <a:chOff x="381000" y="2495550"/>
            <a:chExt cx="838200" cy="838200"/>
          </a:xfrm>
        </p:grpSpPr>
        <p:sp>
          <p:nvSpPr>
            <p:cNvPr id="55" name="Oval 54"/>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56" name="Straight Arrow Connector 55"/>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9903793" y="2922653"/>
            <a:ext cx="711200" cy="711200"/>
            <a:chOff x="381000" y="2495550"/>
            <a:chExt cx="838200" cy="838200"/>
          </a:xfrm>
        </p:grpSpPr>
        <p:sp>
          <p:nvSpPr>
            <p:cNvPr id="58" name="Oval 57"/>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59" name="Straight Arrow Connector 58"/>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60" name="Rectangle 59"/>
          <p:cNvSpPr/>
          <p:nvPr/>
        </p:nvSpPr>
        <p:spPr>
          <a:xfrm>
            <a:off x="10874767" y="3638470"/>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 name="Rectangle 60"/>
          <p:cNvSpPr/>
          <p:nvPr/>
        </p:nvSpPr>
        <p:spPr>
          <a:xfrm>
            <a:off x="11014467" y="4559798"/>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2" name="Rectangle 61"/>
          <p:cNvSpPr/>
          <p:nvPr/>
        </p:nvSpPr>
        <p:spPr>
          <a:xfrm>
            <a:off x="8309367" y="5841344"/>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3" name="Rectangle 62"/>
          <p:cNvSpPr/>
          <p:nvPr/>
        </p:nvSpPr>
        <p:spPr>
          <a:xfrm>
            <a:off x="9934967" y="5728198"/>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4" name="Rectangle 63"/>
          <p:cNvSpPr/>
          <p:nvPr/>
        </p:nvSpPr>
        <p:spPr>
          <a:xfrm>
            <a:off x="11230367" y="5727042"/>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Rectangle 64"/>
          <p:cNvSpPr/>
          <p:nvPr/>
        </p:nvSpPr>
        <p:spPr>
          <a:xfrm>
            <a:off x="8778112" y="6253517"/>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Rectangle 65"/>
          <p:cNvSpPr/>
          <p:nvPr/>
        </p:nvSpPr>
        <p:spPr>
          <a:xfrm>
            <a:off x="10014631" y="6140372"/>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Rectangle 66"/>
          <p:cNvSpPr/>
          <p:nvPr/>
        </p:nvSpPr>
        <p:spPr>
          <a:xfrm>
            <a:off x="11293867" y="6159998"/>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1" name="Content Placeholder 2"/>
          <p:cNvSpPr>
            <a:spLocks noGrp="1"/>
          </p:cNvSpPr>
          <p:nvPr>
            <p:ph idx="1"/>
          </p:nvPr>
        </p:nvSpPr>
        <p:spPr>
          <a:xfrm>
            <a:off x="609600" y="1498601"/>
            <a:ext cx="10972800" cy="4625609"/>
          </a:xfrm>
        </p:spPr>
        <p:txBody>
          <a:bodyPr>
            <a:normAutofit/>
          </a:bodyPr>
          <a:lstStyle/>
          <a:p>
            <a:r>
              <a:rPr lang="en-US" sz="3733" dirty="0"/>
              <a:t>Driven </a:t>
            </a:r>
            <a:r>
              <a:rPr lang="en-US" sz="3733"/>
              <a:t>by preattentive </a:t>
            </a:r>
            <a:r>
              <a:rPr lang="en-US" sz="3733" dirty="0"/>
              <a:t>processes</a:t>
            </a:r>
          </a:p>
        </p:txBody>
      </p:sp>
      <p:sp>
        <p:nvSpPr>
          <p:cNvPr id="72" name="Rectangle 71"/>
          <p:cNvSpPr/>
          <p:nvPr/>
        </p:nvSpPr>
        <p:spPr>
          <a:xfrm>
            <a:off x="4098940" y="2456073"/>
            <a:ext cx="3962400" cy="406400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73" name="Group 72"/>
          <p:cNvGrpSpPr/>
          <p:nvPr/>
        </p:nvGrpSpPr>
        <p:grpSpPr>
          <a:xfrm>
            <a:off x="4606940" y="3804583"/>
            <a:ext cx="711200" cy="711200"/>
            <a:chOff x="381000" y="2495550"/>
            <a:chExt cx="838200" cy="838200"/>
          </a:xfrm>
        </p:grpSpPr>
        <p:sp>
          <p:nvSpPr>
            <p:cNvPr id="74" name="Oval 73"/>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75" name="Straight Arrow Connector 74"/>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5521340" y="3804583"/>
            <a:ext cx="711200" cy="711200"/>
            <a:chOff x="381000" y="2495550"/>
            <a:chExt cx="838200" cy="838200"/>
          </a:xfrm>
        </p:grpSpPr>
        <p:sp>
          <p:nvSpPr>
            <p:cNvPr id="77" name="Oval 76"/>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78" name="Straight Arrow Connector 77"/>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4606940" y="2862473"/>
            <a:ext cx="711200" cy="711200"/>
            <a:chOff x="381000" y="2495550"/>
            <a:chExt cx="838200" cy="838200"/>
          </a:xfrm>
        </p:grpSpPr>
        <p:sp>
          <p:nvSpPr>
            <p:cNvPr id="80" name="Oval 79"/>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81" name="Straight Arrow Connector 80"/>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2" name="Group 81"/>
          <p:cNvGrpSpPr/>
          <p:nvPr/>
        </p:nvGrpSpPr>
        <p:grpSpPr>
          <a:xfrm>
            <a:off x="5542121" y="2862473"/>
            <a:ext cx="711200" cy="711200"/>
            <a:chOff x="381000" y="2495550"/>
            <a:chExt cx="838200" cy="838200"/>
          </a:xfrm>
        </p:grpSpPr>
        <p:sp>
          <p:nvSpPr>
            <p:cNvPr id="83" name="Oval 82"/>
            <p:cNvSpPr/>
            <p:nvPr/>
          </p:nvSpPr>
          <p:spPr>
            <a:xfrm>
              <a:off x="381000" y="2495550"/>
              <a:ext cx="838200" cy="8382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84" name="Straight Arrow Connector 83"/>
            <p:cNvCxnSpPr/>
            <p:nvPr/>
          </p:nvCxnSpPr>
          <p:spPr>
            <a:xfrm flipH="1" flipV="1">
              <a:off x="609600" y="2647950"/>
              <a:ext cx="190500" cy="26670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5" name="Rectangle 84"/>
          <p:cNvSpPr/>
          <p:nvPr/>
        </p:nvSpPr>
        <p:spPr>
          <a:xfrm>
            <a:off x="6740540" y="31049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6" name="Rectangle 85"/>
          <p:cNvSpPr/>
          <p:nvPr/>
        </p:nvSpPr>
        <p:spPr>
          <a:xfrm>
            <a:off x="6740540" y="4103610"/>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7" name="Rectangle 86"/>
          <p:cNvSpPr/>
          <p:nvPr/>
        </p:nvSpPr>
        <p:spPr>
          <a:xfrm>
            <a:off x="4708540" y="55941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8" name="Rectangle 87"/>
          <p:cNvSpPr/>
          <p:nvPr/>
        </p:nvSpPr>
        <p:spPr>
          <a:xfrm>
            <a:off x="5673740" y="55941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9" name="Rectangle 88"/>
          <p:cNvSpPr/>
          <p:nvPr/>
        </p:nvSpPr>
        <p:spPr>
          <a:xfrm>
            <a:off x="6689740" y="55941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0" name="Rectangle 89"/>
          <p:cNvSpPr/>
          <p:nvPr/>
        </p:nvSpPr>
        <p:spPr>
          <a:xfrm>
            <a:off x="4708540" y="60005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1" name="Rectangle 90"/>
          <p:cNvSpPr/>
          <p:nvPr/>
        </p:nvSpPr>
        <p:spPr>
          <a:xfrm>
            <a:off x="5673740" y="60005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2" name="Rectangle 91"/>
          <p:cNvSpPr/>
          <p:nvPr/>
        </p:nvSpPr>
        <p:spPr>
          <a:xfrm>
            <a:off x="6689740" y="6000529"/>
            <a:ext cx="609600" cy="11314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74443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2C734-B431-4924-AE75-5B158C47D099}"/>
              </a:ext>
            </a:extLst>
          </p:cNvPr>
          <p:cNvSpPr>
            <a:spLocks noGrp="1"/>
          </p:cNvSpPr>
          <p:nvPr>
            <p:ph type="title"/>
          </p:nvPr>
        </p:nvSpPr>
        <p:spPr/>
        <p:txBody>
          <a:bodyPr/>
          <a:lstStyle/>
          <a:p>
            <a:r>
              <a:rPr lang="en-US" dirty="0"/>
              <a:t>Typographic Grid</a:t>
            </a:r>
          </a:p>
        </p:txBody>
      </p:sp>
      <p:pic>
        <p:nvPicPr>
          <p:cNvPr id="5" name="Content Placeholder 4" descr="A close up of text on a white background&#10;&#10;Description generated with very high confidence">
            <a:extLst>
              <a:ext uri="{FF2B5EF4-FFF2-40B4-BE49-F238E27FC236}">
                <a16:creationId xmlns:a16="http://schemas.microsoft.com/office/drawing/2014/main" id="{7A6D9C94-5E79-48A5-A4FF-C210F05D05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8500" y="2415381"/>
            <a:ext cx="5715000" cy="3171825"/>
          </a:xfrm>
        </p:spPr>
      </p:pic>
    </p:spTree>
    <p:extLst>
      <p:ext uri="{BB962C8B-B14F-4D97-AF65-F5344CB8AC3E}">
        <p14:creationId xmlns:p14="http://schemas.microsoft.com/office/powerpoint/2010/main" val="1810227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Global vs. Local Processing</a:t>
            </a:r>
          </a:p>
        </p:txBody>
      </p:sp>
      <p:sp>
        <p:nvSpPr>
          <p:cNvPr id="4" name="TextBox 3"/>
          <p:cNvSpPr txBox="1"/>
          <p:nvPr/>
        </p:nvSpPr>
        <p:spPr>
          <a:xfrm>
            <a:off x="1331349" y="2616200"/>
            <a:ext cx="994183" cy="3046988"/>
          </a:xfrm>
          <a:prstGeom prst="rect">
            <a:avLst/>
          </a:prstGeom>
          <a:noFill/>
        </p:spPr>
        <p:txBody>
          <a:bodyPr wrap="none" rtlCol="0">
            <a:spAutoFit/>
          </a:bodyPr>
          <a:lstStyle/>
          <a:p>
            <a:r>
              <a:rPr lang="en-US" sz="2400"/>
              <a:t>T T T T</a:t>
            </a:r>
            <a:endParaRPr lang="en-US" sz="2400" dirty="0"/>
          </a:p>
          <a:p>
            <a:r>
              <a:rPr lang="en-US" sz="2400"/>
              <a:t>T</a:t>
            </a:r>
            <a:endParaRPr lang="en-US" sz="2400" dirty="0"/>
          </a:p>
          <a:p>
            <a:r>
              <a:rPr lang="en-US" sz="2400"/>
              <a:t>T</a:t>
            </a:r>
            <a:endParaRPr lang="en-US" sz="2400" dirty="0"/>
          </a:p>
          <a:p>
            <a:r>
              <a:rPr lang="en-US" sz="2400"/>
              <a:t>T T T T</a:t>
            </a:r>
            <a:endParaRPr lang="en-US" sz="2400" dirty="0"/>
          </a:p>
          <a:p>
            <a:r>
              <a:rPr lang="en-US" sz="2400"/>
              <a:t>T</a:t>
            </a:r>
            <a:endParaRPr lang="en-US" sz="2400" dirty="0"/>
          </a:p>
          <a:p>
            <a:r>
              <a:rPr lang="en-US" sz="2400"/>
              <a:t>T</a:t>
            </a:r>
            <a:endParaRPr lang="en-US" sz="2400" dirty="0"/>
          </a:p>
          <a:p>
            <a:r>
              <a:rPr lang="en-US" sz="2400"/>
              <a:t>T</a:t>
            </a:r>
            <a:endParaRPr lang="en-US" sz="2400" dirty="0"/>
          </a:p>
          <a:p>
            <a:r>
              <a:rPr lang="en-US" sz="2400"/>
              <a:t>T</a:t>
            </a:r>
            <a:endParaRPr lang="en-US" sz="2400" dirty="0"/>
          </a:p>
        </p:txBody>
      </p:sp>
      <p:sp>
        <p:nvSpPr>
          <p:cNvPr id="5" name="TextBox 4"/>
          <p:cNvSpPr txBox="1"/>
          <p:nvPr/>
        </p:nvSpPr>
        <p:spPr>
          <a:xfrm>
            <a:off x="3352801" y="2616200"/>
            <a:ext cx="955711" cy="3046988"/>
          </a:xfrm>
          <a:prstGeom prst="rect">
            <a:avLst/>
          </a:prstGeom>
          <a:noFill/>
        </p:spPr>
        <p:txBody>
          <a:bodyPr wrap="none" rtlCol="0">
            <a:spAutoFit/>
          </a:bodyPr>
          <a:lstStyle/>
          <a:p>
            <a:r>
              <a:rPr lang="en-US" sz="2400" dirty="0"/>
              <a:t>F </a:t>
            </a:r>
            <a:r>
              <a:rPr lang="en-US" sz="2400" dirty="0" err="1"/>
              <a:t>F</a:t>
            </a:r>
            <a:r>
              <a:rPr lang="en-US" sz="2400" dirty="0"/>
              <a:t> </a:t>
            </a:r>
            <a:r>
              <a:rPr lang="en-US" sz="2400" dirty="0" err="1"/>
              <a:t>F</a:t>
            </a:r>
            <a:r>
              <a:rPr lang="en-US" sz="2400" dirty="0"/>
              <a:t> </a:t>
            </a:r>
            <a:r>
              <a:rPr lang="en-US" sz="2400" dirty="0" err="1"/>
              <a:t>F</a:t>
            </a:r>
            <a:endParaRPr lang="en-US" sz="2400" dirty="0"/>
          </a:p>
          <a:p>
            <a:r>
              <a:rPr lang="en-US" sz="2400" dirty="0"/>
              <a:t>F</a:t>
            </a:r>
          </a:p>
          <a:p>
            <a:r>
              <a:rPr lang="en-US" sz="2400" dirty="0"/>
              <a:t>F</a:t>
            </a:r>
          </a:p>
          <a:p>
            <a:r>
              <a:rPr lang="en-US" sz="2400" dirty="0"/>
              <a:t>F </a:t>
            </a:r>
            <a:r>
              <a:rPr lang="en-US" sz="2400" dirty="0" err="1"/>
              <a:t>F</a:t>
            </a:r>
            <a:r>
              <a:rPr lang="en-US" sz="2400" dirty="0"/>
              <a:t> </a:t>
            </a:r>
            <a:r>
              <a:rPr lang="en-US" sz="2400" dirty="0" err="1"/>
              <a:t>F</a:t>
            </a:r>
            <a:r>
              <a:rPr lang="en-US" sz="2400" dirty="0"/>
              <a:t> </a:t>
            </a:r>
            <a:r>
              <a:rPr lang="en-US" sz="2400" dirty="0" err="1"/>
              <a:t>F</a:t>
            </a:r>
            <a:endParaRPr lang="en-US" sz="2400" dirty="0"/>
          </a:p>
          <a:p>
            <a:r>
              <a:rPr lang="en-US" sz="2400" dirty="0"/>
              <a:t>F</a:t>
            </a:r>
          </a:p>
          <a:p>
            <a:r>
              <a:rPr lang="en-US" sz="2400" dirty="0"/>
              <a:t>F</a:t>
            </a:r>
          </a:p>
          <a:p>
            <a:r>
              <a:rPr lang="en-US" sz="2400" dirty="0"/>
              <a:t>F</a:t>
            </a:r>
          </a:p>
          <a:p>
            <a:r>
              <a:rPr lang="en-US" sz="2400" dirty="0"/>
              <a:t>F</a:t>
            </a:r>
          </a:p>
        </p:txBody>
      </p:sp>
      <p:pic>
        <p:nvPicPr>
          <p:cNvPr id="7" name="Picture 6"/>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701800"/>
            <a:ext cx="33528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892800" y="5969000"/>
            <a:ext cx="5486400" cy="812800"/>
          </a:xfrm>
        </p:spPr>
        <p:txBody>
          <a:bodyPr>
            <a:normAutofit/>
          </a:bodyPr>
          <a:lstStyle/>
          <a:p>
            <a:pPr marL="158492" indent="0" algn="ctr">
              <a:buNone/>
            </a:pPr>
            <a:r>
              <a:rPr lang="en-US" sz="3200" i="1" dirty="0"/>
              <a:t>Emergent Features</a:t>
            </a:r>
          </a:p>
        </p:txBody>
      </p:sp>
    </p:spTree>
    <p:extLst>
      <p:ext uri="{BB962C8B-B14F-4D97-AF65-F5344CB8AC3E}">
        <p14:creationId xmlns:p14="http://schemas.microsoft.com/office/powerpoint/2010/main" val="3925195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Oval 3"/>
          <p:cNvSpPr/>
          <p:nvPr/>
        </p:nvSpPr>
        <p:spPr>
          <a:xfrm>
            <a:off x="508000" y="3225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Oval 4"/>
          <p:cNvSpPr/>
          <p:nvPr/>
        </p:nvSpPr>
        <p:spPr>
          <a:xfrm>
            <a:off x="508000" y="4241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7" name="Straight Connector 6"/>
          <p:cNvCxnSpPr>
            <a:stCxn id="4" idx="4"/>
          </p:cNvCxnSpPr>
          <p:nvPr/>
        </p:nvCxnSpPr>
        <p:spPr>
          <a:xfrm>
            <a:off x="1016000" y="4241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16000" y="3225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08000" y="5257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0" name="Straight Connector 9"/>
          <p:cNvCxnSpPr/>
          <p:nvPr/>
        </p:nvCxnSpPr>
        <p:spPr>
          <a:xfrm>
            <a:off x="1016000" y="5257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016195" y="3225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Oval 11"/>
          <p:cNvSpPr/>
          <p:nvPr/>
        </p:nvSpPr>
        <p:spPr>
          <a:xfrm rot="1739186">
            <a:off x="2016195" y="4241801"/>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3" name="Straight Connector 12"/>
          <p:cNvCxnSpPr/>
          <p:nvPr/>
        </p:nvCxnSpPr>
        <p:spPr>
          <a:xfrm rot="1739186">
            <a:off x="2497021" y="4241801"/>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524195" y="3225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2016195" y="5257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6" name="Straight Connector 15"/>
          <p:cNvCxnSpPr/>
          <p:nvPr/>
        </p:nvCxnSpPr>
        <p:spPr>
          <a:xfrm>
            <a:off x="2524195" y="5257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454400" y="3225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Oval 19"/>
          <p:cNvSpPr/>
          <p:nvPr/>
        </p:nvSpPr>
        <p:spPr>
          <a:xfrm>
            <a:off x="3454400" y="4241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21" name="Straight Connector 20"/>
          <p:cNvCxnSpPr>
            <a:stCxn id="19" idx="4"/>
          </p:cNvCxnSpPr>
          <p:nvPr/>
        </p:nvCxnSpPr>
        <p:spPr>
          <a:xfrm>
            <a:off x="3962400" y="4241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962400" y="3225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3454400" y="5257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24" name="Straight Connector 23"/>
          <p:cNvCxnSpPr/>
          <p:nvPr/>
        </p:nvCxnSpPr>
        <p:spPr>
          <a:xfrm>
            <a:off x="3962400" y="5257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7416800" y="3225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Oval 25"/>
          <p:cNvSpPr/>
          <p:nvPr/>
        </p:nvSpPr>
        <p:spPr>
          <a:xfrm>
            <a:off x="7924800" y="44450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27" name="Straight Connector 26"/>
          <p:cNvCxnSpPr/>
          <p:nvPr/>
        </p:nvCxnSpPr>
        <p:spPr>
          <a:xfrm>
            <a:off x="8432800" y="44450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924800" y="3225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7620000" y="56642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30" name="Straight Connector 29"/>
          <p:cNvCxnSpPr/>
          <p:nvPr/>
        </p:nvCxnSpPr>
        <p:spPr>
          <a:xfrm>
            <a:off x="8128000" y="56642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8839200" y="34290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Oval 31"/>
          <p:cNvSpPr/>
          <p:nvPr/>
        </p:nvSpPr>
        <p:spPr>
          <a:xfrm rot="1739186">
            <a:off x="9266256" y="4567256"/>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33" name="Straight Connector 32"/>
          <p:cNvCxnSpPr/>
          <p:nvPr/>
        </p:nvCxnSpPr>
        <p:spPr>
          <a:xfrm rot="1739186">
            <a:off x="9747083" y="4567256"/>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347200" y="34290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8839200" y="56642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36" name="Straight Connector 35"/>
          <p:cNvCxnSpPr/>
          <p:nvPr/>
        </p:nvCxnSpPr>
        <p:spPr>
          <a:xfrm>
            <a:off x="9347200" y="56642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9956800" y="3225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Oval 37"/>
          <p:cNvSpPr/>
          <p:nvPr/>
        </p:nvSpPr>
        <p:spPr>
          <a:xfrm>
            <a:off x="10668000" y="42418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39" name="Straight Connector 38"/>
          <p:cNvCxnSpPr/>
          <p:nvPr/>
        </p:nvCxnSpPr>
        <p:spPr>
          <a:xfrm>
            <a:off x="11176000" y="4241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0464800" y="32258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10871200" y="5562600"/>
            <a:ext cx="1016000" cy="1016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2" name="Straight Connector 41"/>
          <p:cNvCxnSpPr/>
          <p:nvPr/>
        </p:nvCxnSpPr>
        <p:spPr>
          <a:xfrm>
            <a:off x="11379200" y="5562600"/>
            <a:ext cx="0" cy="101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Content Placeholder 2"/>
          <p:cNvSpPr>
            <a:spLocks noGrp="1"/>
          </p:cNvSpPr>
          <p:nvPr>
            <p:ph idx="1"/>
          </p:nvPr>
        </p:nvSpPr>
        <p:spPr>
          <a:xfrm>
            <a:off x="609600" y="1444992"/>
            <a:ext cx="10972800" cy="4625609"/>
          </a:xfrm>
        </p:spPr>
        <p:txBody>
          <a:bodyPr/>
          <a:lstStyle/>
          <a:p>
            <a:r>
              <a:rPr lang="en-US" dirty="0"/>
              <a:t>Global processing -&gt; Reduced attentional demands if displays compatible with task</a:t>
            </a:r>
          </a:p>
        </p:txBody>
      </p:sp>
    </p:spTree>
    <p:extLst>
      <p:ext uri="{BB962C8B-B14F-4D97-AF65-F5344CB8AC3E}">
        <p14:creationId xmlns:p14="http://schemas.microsoft.com/office/powerpoint/2010/main" val="1678656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2D74-7F22-4C8B-9FBA-589682100EC7}"/>
              </a:ext>
            </a:extLst>
          </p:cNvPr>
          <p:cNvSpPr>
            <a:spLocks noGrp="1"/>
          </p:cNvSpPr>
          <p:nvPr>
            <p:ph type="title"/>
          </p:nvPr>
        </p:nvSpPr>
        <p:spPr/>
        <p:txBody>
          <a:bodyPr>
            <a:normAutofit/>
          </a:bodyPr>
          <a:lstStyle/>
          <a:p>
            <a:r>
              <a:rPr lang="en-US" sz="2000" dirty="0"/>
              <a:t>Salience</a:t>
            </a:r>
          </a:p>
        </p:txBody>
      </p:sp>
      <p:pic>
        <p:nvPicPr>
          <p:cNvPr id="7" name="Picture 6" descr="A screenshot of a cell phone&#10;&#10;Description generated with very high confidence">
            <a:extLst>
              <a:ext uri="{FF2B5EF4-FFF2-40B4-BE49-F238E27FC236}">
                <a16:creationId xmlns:a16="http://schemas.microsoft.com/office/drawing/2014/main" id="{BF421B08-73D7-403A-86BB-3575106184A9}"/>
              </a:ext>
            </a:extLst>
          </p:cNvPr>
          <p:cNvPicPr>
            <a:picLocks noChangeAspect="1"/>
          </p:cNvPicPr>
          <p:nvPr/>
        </p:nvPicPr>
        <p:blipFill rotWithShape="1">
          <a:blip r:embed="rId3">
            <a:extLst>
              <a:ext uri="{28A0092B-C50C-407E-A947-70E740481C1C}">
                <a14:useLocalDpi xmlns:a14="http://schemas.microsoft.com/office/drawing/2010/main" val="0"/>
              </a:ext>
            </a:extLst>
          </a:blip>
          <a:srcRect t="47032" b="6260"/>
          <a:stretch/>
        </p:blipFill>
        <p:spPr>
          <a:xfrm>
            <a:off x="434339" y="2411252"/>
            <a:ext cx="11041453" cy="3932397"/>
          </a:xfrm>
          <a:prstGeom prst="rect">
            <a:avLst/>
          </a:prstGeom>
        </p:spPr>
      </p:pic>
      <p:sp>
        <p:nvSpPr>
          <p:cNvPr id="8" name="TextBox 7">
            <a:extLst>
              <a:ext uri="{FF2B5EF4-FFF2-40B4-BE49-F238E27FC236}">
                <a16:creationId xmlns:a16="http://schemas.microsoft.com/office/drawing/2014/main" id="{B3B099B2-6B85-41FC-9709-F580AB1A4C10}"/>
              </a:ext>
            </a:extLst>
          </p:cNvPr>
          <p:cNvSpPr txBox="1"/>
          <p:nvPr/>
        </p:nvSpPr>
        <p:spPr>
          <a:xfrm>
            <a:off x="960120" y="1303348"/>
            <a:ext cx="9005222" cy="523220"/>
          </a:xfrm>
          <a:prstGeom prst="rect">
            <a:avLst/>
          </a:prstGeom>
          <a:noFill/>
        </p:spPr>
        <p:txBody>
          <a:bodyPr wrap="none" rtlCol="0">
            <a:spAutoFit/>
          </a:bodyPr>
          <a:lstStyle/>
          <a:p>
            <a:r>
              <a:rPr lang="en-US" sz="2800" dirty="0"/>
              <a:t>The state or quality by which it stands out from its neighbors</a:t>
            </a:r>
          </a:p>
        </p:txBody>
      </p:sp>
      <p:sp>
        <p:nvSpPr>
          <p:cNvPr id="9" name="TextBox 8">
            <a:extLst>
              <a:ext uri="{FF2B5EF4-FFF2-40B4-BE49-F238E27FC236}">
                <a16:creationId xmlns:a16="http://schemas.microsoft.com/office/drawing/2014/main" id="{2C7BFEE7-A53B-4FF6-A406-9B48973A4E94}"/>
              </a:ext>
            </a:extLst>
          </p:cNvPr>
          <p:cNvSpPr txBox="1"/>
          <p:nvPr/>
        </p:nvSpPr>
        <p:spPr>
          <a:xfrm>
            <a:off x="697230" y="6480810"/>
            <a:ext cx="9123010" cy="246221"/>
          </a:xfrm>
          <a:prstGeom prst="rect">
            <a:avLst/>
          </a:prstGeom>
          <a:noFill/>
        </p:spPr>
        <p:txBody>
          <a:bodyPr wrap="none" rtlCol="0">
            <a:spAutoFit/>
          </a:bodyPr>
          <a:lstStyle/>
          <a:p>
            <a:r>
              <a:rPr lang="en-US" sz="1000"/>
              <a:t>https://www.researchgate.net/publication/270221266_Top-Down_but_Not_Bottom-Up_Visual_Scanning_is_Affected_in_Hereditary_Pure_Cerebellar_Ataxia/figures?lo=1</a:t>
            </a:r>
            <a:endParaRPr lang="en-US" sz="1000" dirty="0"/>
          </a:p>
        </p:txBody>
      </p:sp>
    </p:spTree>
    <p:extLst>
      <p:ext uri="{BB962C8B-B14F-4D97-AF65-F5344CB8AC3E}">
        <p14:creationId xmlns:p14="http://schemas.microsoft.com/office/powerpoint/2010/main" val="583762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94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9574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dailymail.co.uk/i/pix/2012/11/13/article-0-0B8080FE000005DC-189_634x37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47" y="-265611"/>
            <a:ext cx="12075853" cy="712361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6">
            <a:extLst>
              <a:ext uri="{FF2B5EF4-FFF2-40B4-BE49-F238E27FC236}">
                <a16:creationId xmlns:a16="http://schemas.microsoft.com/office/drawing/2014/main" id="{9CA2C89F-9D43-4301-B6E3-54CA745AAF0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528329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Displays</a:t>
            </a:r>
          </a:p>
        </p:txBody>
      </p:sp>
      <p:sp>
        <p:nvSpPr>
          <p:cNvPr id="3" name="Content Placeholder 2"/>
          <p:cNvSpPr>
            <a:spLocks noGrp="1"/>
          </p:cNvSpPr>
          <p:nvPr>
            <p:ph idx="1"/>
          </p:nvPr>
        </p:nvSpPr>
        <p:spPr>
          <a:xfrm>
            <a:off x="609600" y="1397001"/>
            <a:ext cx="10972800" cy="4625609"/>
          </a:xfrm>
        </p:spPr>
        <p:txBody>
          <a:bodyPr/>
          <a:lstStyle/>
          <a:p>
            <a:pPr marL="0" indent="0">
              <a:buNone/>
            </a:pPr>
            <a:r>
              <a:rPr lang="en-US" dirty="0"/>
              <a:t>Capitalizing on the parallel processing of object features</a:t>
            </a:r>
          </a:p>
        </p:txBody>
      </p:sp>
      <p:cxnSp>
        <p:nvCxnSpPr>
          <p:cNvPr id="16" name="Straight Connector 15"/>
          <p:cNvCxnSpPr/>
          <p:nvPr/>
        </p:nvCxnSpPr>
        <p:spPr>
          <a:xfrm>
            <a:off x="2759157" y="3121760"/>
            <a:ext cx="0" cy="2438400"/>
          </a:xfrm>
          <a:prstGeom prst="line">
            <a:avLst/>
          </a:prstGeom>
          <a:ln>
            <a:headEnd type="diamond" w="med" len="med"/>
            <a:tailEnd type="diamond" w="med" len="med"/>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1897053" y="3478856"/>
            <a:ext cx="1724208" cy="1724208"/>
          </a:xfrm>
          <a:prstGeom prst="line">
            <a:avLst/>
          </a:prstGeom>
          <a:ln>
            <a:headEnd type="diamond" w="med" len="med"/>
            <a:tailEnd type="diamond" w="med" len="med"/>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1539957" y="4340960"/>
            <a:ext cx="2438400" cy="0"/>
          </a:xfrm>
          <a:prstGeom prst="line">
            <a:avLst/>
          </a:prstGeom>
          <a:ln>
            <a:headEnd type="diamond" w="med" len="med"/>
            <a:tailEnd type="diamond" w="med" len="med"/>
          </a:ln>
        </p:spPr>
        <p:style>
          <a:lnRef idx="1">
            <a:schemeClr val="dk1"/>
          </a:lnRef>
          <a:fillRef idx="0">
            <a:schemeClr val="dk1"/>
          </a:fillRef>
          <a:effectRef idx="0">
            <a:schemeClr val="dk1"/>
          </a:effectRef>
          <a:fontRef idx="minor">
            <a:schemeClr val="tx1"/>
          </a:fontRef>
        </p:style>
      </p:cxnSp>
      <p:cxnSp>
        <p:nvCxnSpPr>
          <p:cNvPr id="23" name="Straight Connector 22"/>
          <p:cNvCxnSpPr/>
          <p:nvPr/>
        </p:nvCxnSpPr>
        <p:spPr>
          <a:xfrm flipV="1">
            <a:off x="1897053" y="3478856"/>
            <a:ext cx="1724208" cy="1724208"/>
          </a:xfrm>
          <a:prstGeom prst="line">
            <a:avLst/>
          </a:prstGeom>
          <a:ln>
            <a:headEnd type="diamond"/>
            <a:tailEnd type="diamond"/>
          </a:ln>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2772984" y="3443640"/>
            <a:ext cx="646579" cy="26782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3419563" y="3711461"/>
            <a:ext cx="267821" cy="6465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flipH="1">
            <a:off x="2126405" y="3443640"/>
            <a:ext cx="646579" cy="26782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flipH="1">
            <a:off x="1858584" y="3711461"/>
            <a:ext cx="267821" cy="6465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1858584" y="4358040"/>
            <a:ext cx="267821" cy="6465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2126405" y="5004619"/>
            <a:ext cx="646579" cy="26782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8" name="Straight Connector 47"/>
          <p:cNvCxnSpPr/>
          <p:nvPr/>
        </p:nvCxnSpPr>
        <p:spPr>
          <a:xfrm flipV="1">
            <a:off x="2772984" y="5004619"/>
            <a:ext cx="646579" cy="267821"/>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flipV="1">
            <a:off x="3419563" y="4358040"/>
            <a:ext cx="267821" cy="64657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a:off x="2759158" y="3443641"/>
            <a:ext cx="794316" cy="13391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3553473" y="3577552"/>
            <a:ext cx="0" cy="780489"/>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H="1">
            <a:off x="3419563" y="4340960"/>
            <a:ext cx="133911" cy="663659"/>
          </a:xfrm>
          <a:prstGeom prst="line">
            <a:avLst/>
          </a:prstGeom>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flipV="1">
            <a:off x="2772984" y="5004619"/>
            <a:ext cx="646579" cy="267821"/>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flipH="1" flipV="1">
            <a:off x="2126405" y="5004619"/>
            <a:ext cx="632752" cy="267821"/>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p:cNvCxnSpPr/>
          <p:nvPr/>
        </p:nvCxnSpPr>
        <p:spPr>
          <a:xfrm>
            <a:off x="1792738" y="4340960"/>
            <a:ext cx="333668" cy="663659"/>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p:cNvCxnSpPr/>
          <p:nvPr/>
        </p:nvCxnSpPr>
        <p:spPr>
          <a:xfrm flipV="1">
            <a:off x="1792738" y="3711461"/>
            <a:ext cx="268433" cy="646579"/>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flipV="1">
            <a:off x="2061171" y="3467818"/>
            <a:ext cx="711813" cy="243644"/>
          </a:xfrm>
          <a:prstGeom prst="line">
            <a:avLst/>
          </a:prstGeom>
        </p:spPr>
        <p:style>
          <a:lnRef idx="1">
            <a:schemeClr val="dk1"/>
          </a:lnRef>
          <a:fillRef idx="0">
            <a:schemeClr val="dk1"/>
          </a:fillRef>
          <a:effectRef idx="0">
            <a:schemeClr val="dk1"/>
          </a:effectRef>
          <a:fontRef idx="minor">
            <a:schemeClr val="tx1"/>
          </a:fontRef>
        </p:style>
      </p:cxnSp>
      <p:sp>
        <p:nvSpPr>
          <p:cNvPr id="80" name="TextBox 79"/>
          <p:cNvSpPr txBox="1"/>
          <p:nvPr/>
        </p:nvSpPr>
        <p:spPr>
          <a:xfrm>
            <a:off x="770507" y="5968790"/>
            <a:ext cx="4046172" cy="461665"/>
          </a:xfrm>
          <a:prstGeom prst="rect">
            <a:avLst/>
          </a:prstGeom>
          <a:noFill/>
        </p:spPr>
        <p:txBody>
          <a:bodyPr wrap="none" rtlCol="0">
            <a:spAutoFit/>
          </a:bodyPr>
          <a:lstStyle/>
          <a:p>
            <a:r>
              <a:rPr lang="en-US" sz="2400" dirty="0"/>
              <a:t>Woods, Wise, and Hanes, 1981</a:t>
            </a:r>
          </a:p>
        </p:txBody>
      </p:sp>
      <p:sp>
        <p:nvSpPr>
          <p:cNvPr id="81" name="Rectangle 80"/>
          <p:cNvSpPr/>
          <p:nvPr/>
        </p:nvSpPr>
        <p:spPr>
          <a:xfrm>
            <a:off x="7990647" y="3121761"/>
            <a:ext cx="1075340" cy="2016769"/>
          </a:xfrm>
          <a:prstGeom prst="rect">
            <a:avLst/>
          </a:prstGeom>
          <a:solidFill>
            <a:schemeClr val="bg1"/>
          </a:solidFill>
          <a:ln w="12700" cmpd="sng"/>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
        <p:nvSpPr>
          <p:cNvPr id="82" name="TextBox 81"/>
          <p:cNvSpPr txBox="1"/>
          <p:nvPr/>
        </p:nvSpPr>
        <p:spPr>
          <a:xfrm>
            <a:off x="7791169" y="5917584"/>
            <a:ext cx="1502334" cy="461665"/>
          </a:xfrm>
          <a:prstGeom prst="rect">
            <a:avLst/>
          </a:prstGeom>
          <a:noFill/>
        </p:spPr>
        <p:txBody>
          <a:bodyPr wrap="none" rtlCol="0">
            <a:spAutoFit/>
          </a:bodyPr>
          <a:lstStyle/>
          <a:p>
            <a:r>
              <a:rPr lang="en-US" sz="2400" dirty="0"/>
              <a:t>Cole, 1986</a:t>
            </a:r>
          </a:p>
        </p:txBody>
      </p:sp>
      <p:cxnSp>
        <p:nvCxnSpPr>
          <p:cNvPr id="84" name="Straight Arrow Connector 83"/>
          <p:cNvCxnSpPr/>
          <p:nvPr/>
        </p:nvCxnSpPr>
        <p:spPr>
          <a:xfrm>
            <a:off x="7990647" y="5385892"/>
            <a:ext cx="1075340"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85" name="Straight Arrow Connector 84"/>
          <p:cNvCxnSpPr/>
          <p:nvPr/>
        </p:nvCxnSpPr>
        <p:spPr>
          <a:xfrm flipV="1">
            <a:off x="7734613" y="3121761"/>
            <a:ext cx="0" cy="2016769"/>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87" name="TextBox 86"/>
          <p:cNvSpPr txBox="1"/>
          <p:nvPr/>
        </p:nvSpPr>
        <p:spPr>
          <a:xfrm>
            <a:off x="6219817" y="3988901"/>
            <a:ext cx="1139927" cy="461665"/>
          </a:xfrm>
          <a:prstGeom prst="rect">
            <a:avLst/>
          </a:prstGeom>
          <a:noFill/>
        </p:spPr>
        <p:txBody>
          <a:bodyPr wrap="none" rtlCol="0">
            <a:spAutoFit/>
          </a:bodyPr>
          <a:lstStyle/>
          <a:p>
            <a:r>
              <a:rPr lang="en-US" sz="2400" dirty="0"/>
              <a:t>Volume</a:t>
            </a:r>
          </a:p>
        </p:txBody>
      </p:sp>
      <p:sp>
        <p:nvSpPr>
          <p:cNvPr id="88" name="TextBox 87"/>
          <p:cNvSpPr txBox="1"/>
          <p:nvPr/>
        </p:nvSpPr>
        <p:spPr>
          <a:xfrm>
            <a:off x="8144267" y="5437100"/>
            <a:ext cx="749116" cy="461665"/>
          </a:xfrm>
          <a:prstGeom prst="rect">
            <a:avLst/>
          </a:prstGeom>
          <a:noFill/>
        </p:spPr>
        <p:txBody>
          <a:bodyPr wrap="none" rtlCol="0">
            <a:spAutoFit/>
          </a:bodyPr>
          <a:lstStyle/>
          <a:p>
            <a:r>
              <a:rPr lang="en-US" sz="2400" dirty="0"/>
              <a:t>Rate</a:t>
            </a:r>
          </a:p>
        </p:txBody>
      </p:sp>
    </p:spTree>
    <p:extLst>
      <p:ext uri="{BB962C8B-B14F-4D97-AF65-F5344CB8AC3E}">
        <p14:creationId xmlns:p14="http://schemas.microsoft.com/office/powerpoint/2010/main" val="3301937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Steven’s Power Law</a:t>
            </a:r>
          </a:p>
        </p:txBody>
      </p:sp>
      <p:sp>
        <p:nvSpPr>
          <p:cNvPr id="3" name="Content Placeholder 2"/>
          <p:cNvSpPr>
            <a:spLocks noGrp="1"/>
          </p:cNvSpPr>
          <p:nvPr>
            <p:ph idx="1"/>
          </p:nvPr>
        </p:nvSpPr>
        <p:spPr>
          <a:xfrm>
            <a:off x="674237" y="4170501"/>
            <a:ext cx="3657600" cy="1525597"/>
          </a:xfrm>
        </p:spPr>
        <p:txBody>
          <a:bodyPr vert="horz" lIns="91440" tIns="45720" rIns="91440" bIns="45720" rtlCol="0">
            <a:normAutofit/>
          </a:bodyPr>
          <a:lstStyle/>
          <a:p>
            <a:pPr marL="0" indent="0" algn="ctr">
              <a:buNone/>
            </a:pPr>
            <a:r>
              <a:rPr lang="en-US" sz="2000" kern="1200">
                <a:solidFill>
                  <a:srgbClr val="FFFFFF"/>
                </a:solidFill>
                <a:latin typeface="+mn-lt"/>
                <a:ea typeface="+mn-ea"/>
                <a:cs typeface="+mn-cs"/>
              </a:rPr>
              <a:t>Describes relationship between a physical stimulus and how it is perceived as a power function</a:t>
            </a:r>
          </a:p>
        </p:txBody>
      </p:sp>
      <p:pic>
        <p:nvPicPr>
          <p:cNvPr id="4" name="Picture 3" descr="C:\Users\roger\Dropbox\tmp\power_law.png"/>
          <p:cNvPicPr/>
          <p:nvPr/>
        </p:nvPicPr>
        <p:blipFill>
          <a:blip r:embed="rId2" cstate="print"/>
          <a:srcRect/>
          <a:stretch>
            <a:fillRect/>
          </a:stretch>
        </p:blipFill>
        <p:spPr bwMode="auto">
          <a:xfrm>
            <a:off x="5002513" y="138780"/>
            <a:ext cx="6719220" cy="6719220"/>
          </a:xfrm>
          <a:prstGeom prst="rect">
            <a:avLst/>
          </a:prstGeom>
          <a:noFill/>
        </p:spPr>
      </p:pic>
    </p:spTree>
    <p:extLst>
      <p:ext uri="{BB962C8B-B14F-4D97-AF65-F5344CB8AC3E}">
        <p14:creationId xmlns:p14="http://schemas.microsoft.com/office/powerpoint/2010/main" val="964526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F2FD0-9E53-49E1-8305-8F34040FF2AC}"/>
              </a:ext>
            </a:extLst>
          </p:cNvPr>
          <p:cNvSpPr>
            <a:spLocks noGrp="1"/>
          </p:cNvSpPr>
          <p:nvPr>
            <p:ph type="ctrTitle"/>
          </p:nvPr>
        </p:nvSpPr>
        <p:spPr>
          <a:xfrm>
            <a:off x="3045368" y="2043663"/>
            <a:ext cx="6105194" cy="2031055"/>
          </a:xfrm>
        </p:spPr>
        <p:txBody>
          <a:bodyPr>
            <a:normAutofit/>
          </a:bodyPr>
          <a:lstStyle/>
          <a:p>
            <a:r>
              <a:rPr lang="en-US" dirty="0">
                <a:solidFill>
                  <a:srgbClr val="FFFFFF"/>
                </a:solidFill>
              </a:rPr>
              <a:t>Human Factors General Principles</a:t>
            </a:r>
          </a:p>
        </p:txBody>
      </p:sp>
      <p:sp>
        <p:nvSpPr>
          <p:cNvPr id="3" name="Subtitle 2">
            <a:extLst>
              <a:ext uri="{FF2B5EF4-FFF2-40B4-BE49-F238E27FC236}">
                <a16:creationId xmlns:a16="http://schemas.microsoft.com/office/drawing/2014/main" id="{20B82A44-A928-4AED-8CC2-CC804F64E239}"/>
              </a:ext>
            </a:extLst>
          </p:cNvPr>
          <p:cNvSpPr>
            <a:spLocks noGrp="1"/>
          </p:cNvSpPr>
          <p:nvPr>
            <p:ph type="subTitle" idx="1"/>
          </p:nvPr>
        </p:nvSpPr>
        <p:spPr>
          <a:xfrm>
            <a:off x="3045368" y="4074718"/>
            <a:ext cx="6105194" cy="682079"/>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2167790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E68BA-E5BC-4588-956A-531DC47B0674}"/>
              </a:ext>
            </a:extLst>
          </p:cNvPr>
          <p:cNvSpPr>
            <a:spLocks noGrp="1"/>
          </p:cNvSpPr>
          <p:nvPr>
            <p:ph type="title"/>
          </p:nvPr>
        </p:nvSpPr>
        <p:spPr>
          <a:xfrm>
            <a:off x="527538" y="4756638"/>
            <a:ext cx="11139854" cy="930447"/>
          </a:xfrm>
        </p:spPr>
        <p:txBody>
          <a:bodyPr vert="horz" lIns="91440" tIns="45720" rIns="91440" bIns="45720" rtlCol="0" anchor="b">
            <a:normAutofit/>
          </a:bodyPr>
          <a:lstStyle/>
          <a:p>
            <a:pPr algn="ctr"/>
            <a:r>
              <a:rPr lang="en-US" sz="5400" dirty="0">
                <a:solidFill>
                  <a:srgbClr val="FFFFFF"/>
                </a:solidFill>
              </a:rPr>
              <a:t>Affordances</a:t>
            </a:r>
          </a:p>
        </p:txBody>
      </p:sp>
      <p:pic>
        <p:nvPicPr>
          <p:cNvPr id="10" name="Picture 2" descr="http://www.doctordisruption.com/wp-content/uploads/2013/09/Sensory_Feedback_in_Brain_Computer_Interfaces1.jpg">
            <a:extLst>
              <a:ext uri="{FF2B5EF4-FFF2-40B4-BE49-F238E27FC236}">
                <a16:creationId xmlns:a16="http://schemas.microsoft.com/office/drawing/2014/main" id="{F2205B67-2E27-4058-844D-28461B00A6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 y="1197509"/>
            <a:ext cx="3425609" cy="221808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person standing in front of a door&#10;&#10;Description generated with high confidence">
            <a:extLst>
              <a:ext uri="{FF2B5EF4-FFF2-40B4-BE49-F238E27FC236}">
                <a16:creationId xmlns:a16="http://schemas.microsoft.com/office/drawing/2014/main" id="{001F1133-7069-48BE-AC4A-A47A30C814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5729" y="1340927"/>
            <a:ext cx="3433324" cy="1931244"/>
          </a:xfrm>
          <a:prstGeom prst="rect">
            <a:avLst/>
          </a:prstGeom>
        </p:spPr>
      </p:pic>
      <p:pic>
        <p:nvPicPr>
          <p:cNvPr id="11" name="Content Placeholder 10" descr="A close up of a sign&#10;&#10;Description generated with very high confidence">
            <a:extLst>
              <a:ext uri="{FF2B5EF4-FFF2-40B4-BE49-F238E27FC236}">
                <a16:creationId xmlns:a16="http://schemas.microsoft.com/office/drawing/2014/main" id="{F7A02EF7-B3A9-43E8-8514-DEFAC296354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852457" y="330045"/>
            <a:ext cx="2618452" cy="3997637"/>
          </a:xfrm>
          <a:prstGeom prst="rect">
            <a:avLst/>
          </a:prstGeom>
        </p:spPr>
      </p:pic>
    </p:spTree>
    <p:extLst>
      <p:ext uri="{BB962C8B-B14F-4D97-AF65-F5344CB8AC3E}">
        <p14:creationId xmlns:p14="http://schemas.microsoft.com/office/powerpoint/2010/main" val="1072282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D340F-CA82-4DAF-A9FC-28883F565602}"/>
              </a:ext>
            </a:extLst>
          </p:cNvPr>
          <p:cNvSpPr>
            <a:spLocks noGrp="1"/>
          </p:cNvSpPr>
          <p:nvPr>
            <p:ph type="title"/>
          </p:nvPr>
        </p:nvSpPr>
        <p:spPr/>
        <p:txBody>
          <a:bodyPr/>
          <a:lstStyle/>
          <a:p>
            <a:r>
              <a:rPr lang="en-US" dirty="0"/>
              <a:t>Extends to Digital Interfaces</a:t>
            </a:r>
          </a:p>
        </p:txBody>
      </p:sp>
      <p:sp>
        <p:nvSpPr>
          <p:cNvPr id="3" name="Content Placeholder 2">
            <a:extLst>
              <a:ext uri="{FF2B5EF4-FFF2-40B4-BE49-F238E27FC236}">
                <a16:creationId xmlns:a16="http://schemas.microsoft.com/office/drawing/2014/main" id="{DC46CD4A-898C-44BE-BE53-C65931FF5A88}"/>
              </a:ext>
            </a:extLst>
          </p:cNvPr>
          <p:cNvSpPr>
            <a:spLocks noGrp="1"/>
          </p:cNvSpPr>
          <p:nvPr>
            <p:ph idx="1"/>
          </p:nvPr>
        </p:nvSpPr>
        <p:spPr/>
        <p:txBody>
          <a:bodyPr/>
          <a:lstStyle/>
          <a:p>
            <a:r>
              <a:rPr lang="en-US" dirty="0"/>
              <a:t>Is the interface intuitive?</a:t>
            </a:r>
          </a:p>
          <a:p>
            <a:r>
              <a:rPr lang="en-US" dirty="0"/>
              <a:t>Can you discern:</a:t>
            </a:r>
          </a:p>
          <a:p>
            <a:pPr lvl="1"/>
            <a:r>
              <a:rPr lang="en-US" dirty="0"/>
              <a:t>what is a control and what is not?</a:t>
            </a:r>
          </a:p>
          <a:p>
            <a:pPr lvl="1"/>
            <a:r>
              <a:rPr lang="en-US" dirty="0"/>
              <a:t>what is a display and what is not?</a:t>
            </a:r>
          </a:p>
          <a:p>
            <a:pPr lvl="1"/>
            <a:r>
              <a:rPr lang="en-US" dirty="0"/>
              <a:t>what information is static?</a:t>
            </a:r>
          </a:p>
          <a:p>
            <a:pPr lvl="1"/>
            <a:r>
              <a:rPr lang="en-US" dirty="0"/>
              <a:t>what is hyperlinks?</a:t>
            </a:r>
          </a:p>
          <a:p>
            <a:pPr lvl="1"/>
            <a:endParaRPr lang="en-US" dirty="0"/>
          </a:p>
          <a:p>
            <a:pPr lvl="1"/>
            <a:endParaRPr lang="en-US" dirty="0"/>
          </a:p>
        </p:txBody>
      </p:sp>
    </p:spTree>
    <p:extLst>
      <p:ext uri="{BB962C8B-B14F-4D97-AF65-F5344CB8AC3E}">
        <p14:creationId xmlns:p14="http://schemas.microsoft.com/office/powerpoint/2010/main" val="3572072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785B0-A535-41A3-9715-12F51870FE4A}"/>
              </a:ext>
            </a:extLst>
          </p:cNvPr>
          <p:cNvSpPr>
            <a:spLocks noGrp="1"/>
          </p:cNvSpPr>
          <p:nvPr>
            <p:ph type="title"/>
          </p:nvPr>
        </p:nvSpPr>
        <p:spPr>
          <a:xfrm>
            <a:off x="655320" y="365125"/>
            <a:ext cx="9013052" cy="1623312"/>
          </a:xfrm>
        </p:spPr>
        <p:txBody>
          <a:bodyPr anchor="b">
            <a:normAutofit/>
          </a:bodyPr>
          <a:lstStyle/>
          <a:p>
            <a:r>
              <a:rPr lang="en-US" sz="4000" dirty="0"/>
              <a:t>(Nielsen,) Jakob’s Law</a:t>
            </a:r>
          </a:p>
        </p:txBody>
      </p:sp>
      <p:sp>
        <p:nvSpPr>
          <p:cNvPr id="3" name="Content Placeholder 2">
            <a:extLst>
              <a:ext uri="{FF2B5EF4-FFF2-40B4-BE49-F238E27FC236}">
                <a16:creationId xmlns:a16="http://schemas.microsoft.com/office/drawing/2014/main" id="{CE27000C-0C01-415F-8FBD-FF9FE0DC13DA}"/>
              </a:ext>
            </a:extLst>
          </p:cNvPr>
          <p:cNvSpPr>
            <a:spLocks noGrp="1"/>
          </p:cNvSpPr>
          <p:nvPr>
            <p:ph idx="1"/>
          </p:nvPr>
        </p:nvSpPr>
        <p:spPr>
          <a:xfrm>
            <a:off x="655320" y="2644518"/>
            <a:ext cx="9013052" cy="3327251"/>
          </a:xfrm>
        </p:spPr>
        <p:txBody>
          <a:bodyPr>
            <a:normAutofit/>
          </a:bodyPr>
          <a:lstStyle/>
          <a:p>
            <a:pPr marL="0" indent="0">
              <a:buNone/>
            </a:pPr>
            <a:r>
              <a:rPr lang="en-US" sz="2000" dirty="0"/>
              <a:t>Users spend most of their time on other sites. This means that users prefer your site to work the same way as all the other sites they already know.</a:t>
            </a:r>
          </a:p>
        </p:txBody>
      </p:sp>
    </p:spTree>
    <p:extLst>
      <p:ext uri="{BB962C8B-B14F-4D97-AF65-F5344CB8AC3E}">
        <p14:creationId xmlns:p14="http://schemas.microsoft.com/office/powerpoint/2010/main" val="41410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B1D71-7A58-4C90-8230-9F10D443F843}"/>
              </a:ext>
            </a:extLst>
          </p:cNvPr>
          <p:cNvSpPr>
            <a:spLocks noGrp="1"/>
          </p:cNvSpPr>
          <p:nvPr>
            <p:ph type="title"/>
          </p:nvPr>
        </p:nvSpPr>
        <p:spPr/>
        <p:txBody>
          <a:bodyPr/>
          <a:lstStyle/>
          <a:p>
            <a:r>
              <a:rPr lang="en-US" dirty="0"/>
              <a:t>Provide Feedback</a:t>
            </a:r>
          </a:p>
        </p:txBody>
      </p:sp>
      <p:sp>
        <p:nvSpPr>
          <p:cNvPr id="3" name="Content Placeholder 2">
            <a:extLst>
              <a:ext uri="{FF2B5EF4-FFF2-40B4-BE49-F238E27FC236}">
                <a16:creationId xmlns:a16="http://schemas.microsoft.com/office/drawing/2014/main" id="{4EF150B8-0D1A-4044-850A-73E0ECCB49D9}"/>
              </a:ext>
            </a:extLst>
          </p:cNvPr>
          <p:cNvSpPr>
            <a:spLocks noGrp="1"/>
          </p:cNvSpPr>
          <p:nvPr>
            <p:ph idx="1"/>
          </p:nvPr>
        </p:nvSpPr>
        <p:spPr/>
        <p:txBody>
          <a:bodyPr>
            <a:normAutofit/>
          </a:bodyPr>
          <a:lstStyle/>
          <a:p>
            <a:r>
              <a:rPr lang="en-US" dirty="0"/>
              <a:t>Provide feedback so the user knows the system has received the command</a:t>
            </a:r>
          </a:p>
          <a:p>
            <a:pPr lvl="1"/>
            <a:r>
              <a:rPr lang="en-US" dirty="0"/>
              <a:t>Button depressed</a:t>
            </a:r>
          </a:p>
          <a:p>
            <a:pPr lvl="1"/>
            <a:r>
              <a:rPr lang="en-US" dirty="0"/>
              <a:t>Spinning wheels</a:t>
            </a:r>
          </a:p>
          <a:p>
            <a:pPr lvl="1"/>
            <a:r>
              <a:rPr lang="en-US" dirty="0"/>
              <a:t>Sound</a:t>
            </a:r>
          </a:p>
          <a:p>
            <a:pPr lvl="1"/>
            <a:r>
              <a:rPr lang="en-US" dirty="0"/>
              <a:t>Secondary Indications</a:t>
            </a:r>
          </a:p>
          <a:p>
            <a:pPr lvl="1"/>
            <a:endParaRPr lang="en-US" dirty="0"/>
          </a:p>
        </p:txBody>
      </p:sp>
    </p:spTree>
    <p:extLst>
      <p:ext uri="{BB962C8B-B14F-4D97-AF65-F5344CB8AC3E}">
        <p14:creationId xmlns:p14="http://schemas.microsoft.com/office/powerpoint/2010/main" val="1857379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67ACB6-FCC4-DC4B-9D85-E06FC52E0763}"/>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200"/>
                    </a14:imgEffect>
                    <a14:imgEffect>
                      <a14:saturation sat="66000"/>
                    </a14:imgEffect>
                    <a14:imgEffect>
                      <a14:brightnessContrast bright="-40000" contrast="20000"/>
                    </a14:imgEffect>
                  </a14:imgLayer>
                </a14:imgProps>
              </a:ext>
            </a:extLst>
          </a:blip>
          <a:stretch>
            <a:fillRect/>
          </a:stretch>
        </p:blipFill>
        <p:spPr>
          <a:xfrm>
            <a:off x="-73572" y="-27005"/>
            <a:ext cx="12265572" cy="6926552"/>
          </a:xfrm>
          <a:prstGeom prst="rect">
            <a:avLst/>
          </a:prstGeom>
        </p:spPr>
      </p:pic>
      <p:sp>
        <p:nvSpPr>
          <p:cNvPr id="2" name="Title 1">
            <a:extLst>
              <a:ext uri="{FF2B5EF4-FFF2-40B4-BE49-F238E27FC236}">
                <a16:creationId xmlns:a16="http://schemas.microsoft.com/office/drawing/2014/main" id="{FF169E4D-5399-47F4-94E7-65097C36DBE2}"/>
              </a:ext>
            </a:extLst>
          </p:cNvPr>
          <p:cNvSpPr>
            <a:spLocks noGrp="1"/>
          </p:cNvSpPr>
          <p:nvPr>
            <p:ph type="title"/>
          </p:nvPr>
        </p:nvSpPr>
        <p:spPr/>
        <p:txBody>
          <a:bodyPr/>
          <a:lstStyle/>
          <a:p>
            <a:r>
              <a:rPr lang="en-US" dirty="0">
                <a:solidFill>
                  <a:schemeClr val="bg1"/>
                </a:solidFill>
              </a:rPr>
              <a:t>Doherty Threshold </a:t>
            </a:r>
          </a:p>
        </p:txBody>
      </p:sp>
      <p:sp>
        <p:nvSpPr>
          <p:cNvPr id="3" name="Content Placeholder 2">
            <a:extLst>
              <a:ext uri="{FF2B5EF4-FFF2-40B4-BE49-F238E27FC236}">
                <a16:creationId xmlns:a16="http://schemas.microsoft.com/office/drawing/2014/main" id="{D6E5929C-CBB0-4EAE-ADBB-CD427AF1AE88}"/>
              </a:ext>
            </a:extLst>
          </p:cNvPr>
          <p:cNvSpPr>
            <a:spLocks noGrp="1"/>
          </p:cNvSpPr>
          <p:nvPr>
            <p:ph idx="1"/>
          </p:nvPr>
        </p:nvSpPr>
        <p:spPr>
          <a:xfrm>
            <a:off x="838200" y="2069316"/>
            <a:ext cx="10515600" cy="4351338"/>
          </a:xfrm>
        </p:spPr>
        <p:txBody>
          <a:bodyPr/>
          <a:lstStyle/>
          <a:p>
            <a:pPr marL="0" indent="0">
              <a:buNone/>
            </a:pPr>
            <a:r>
              <a:rPr lang="en-US" i="1" dirty="0">
                <a:solidFill>
                  <a:schemeClr val="bg1"/>
                </a:solidFill>
              </a:rPr>
              <a:t>In 1982 Walter J. Doherty and </a:t>
            </a:r>
            <a:r>
              <a:rPr lang="en-US" i="1" dirty="0" err="1">
                <a:solidFill>
                  <a:schemeClr val="bg1"/>
                </a:solidFill>
              </a:rPr>
              <a:t>Ahrvind</a:t>
            </a:r>
            <a:r>
              <a:rPr lang="en-US" i="1" dirty="0">
                <a:solidFill>
                  <a:schemeClr val="bg1"/>
                </a:solidFill>
              </a:rPr>
              <a:t> J. Thadani published, in the IBM Systems Journal, a research paper that set the requirement for computer response time to be 400 milliseconds, not 2,000 (2 seconds) which had been the previous standard. When a human being’s command was executed and returned an answer In under 400 milliseconds, it was deemed to exceed the Doherty threshold, and use of such applications were deemed to be “addicting” to users.</a:t>
            </a:r>
          </a:p>
          <a:p>
            <a:endParaRPr lang="en-US" dirty="0">
              <a:solidFill>
                <a:schemeClr val="bg1"/>
              </a:solidFill>
            </a:endParaRPr>
          </a:p>
        </p:txBody>
      </p:sp>
      <p:sp>
        <p:nvSpPr>
          <p:cNvPr id="4" name="Rectangle 3">
            <a:extLst>
              <a:ext uri="{FF2B5EF4-FFF2-40B4-BE49-F238E27FC236}">
                <a16:creationId xmlns:a16="http://schemas.microsoft.com/office/drawing/2014/main" id="{C86392F0-FAAA-4EDC-83D5-6C51435A9D6A}"/>
              </a:ext>
            </a:extLst>
          </p:cNvPr>
          <p:cNvSpPr/>
          <p:nvPr/>
        </p:nvSpPr>
        <p:spPr>
          <a:xfrm>
            <a:off x="6864686" y="4855419"/>
            <a:ext cx="3766287" cy="369332"/>
          </a:xfrm>
          <a:prstGeom prst="rect">
            <a:avLst/>
          </a:prstGeom>
        </p:spPr>
        <p:txBody>
          <a:bodyPr wrap="none">
            <a:spAutoFit/>
          </a:bodyPr>
          <a:lstStyle/>
          <a:p>
            <a:r>
              <a:rPr lang="en-US" dirty="0">
                <a:solidFill>
                  <a:schemeClr val="bg1"/>
                </a:solidFill>
              </a:rPr>
              <a:t>lawsofux.com/doherty-threshold.html</a:t>
            </a:r>
          </a:p>
        </p:txBody>
      </p:sp>
    </p:spTree>
    <p:extLst>
      <p:ext uri="{BB962C8B-B14F-4D97-AF65-F5344CB8AC3E}">
        <p14:creationId xmlns:p14="http://schemas.microsoft.com/office/powerpoint/2010/main" val="15835047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9" descr="A picture containing text&#10;&#10;Description generated with high confidence">
            <a:extLst>
              <a:ext uri="{FF2B5EF4-FFF2-40B4-BE49-F238E27FC236}">
                <a16:creationId xmlns:a16="http://schemas.microsoft.com/office/drawing/2014/main" id="{4C272301-6054-42C4-9FB7-2B85C70DD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6538" y="3701972"/>
            <a:ext cx="4947528" cy="3030363"/>
          </a:xfrm>
          <a:prstGeom prst="rect">
            <a:avLst/>
          </a:prstGeom>
        </p:spPr>
      </p:pic>
      <p:sp>
        <p:nvSpPr>
          <p:cNvPr id="2" name="Title 1"/>
          <p:cNvSpPr>
            <a:spLocks noGrp="1"/>
          </p:cNvSpPr>
          <p:nvPr>
            <p:ph type="title"/>
          </p:nvPr>
        </p:nvSpPr>
        <p:spPr>
          <a:xfrm>
            <a:off x="539141" y="186664"/>
            <a:ext cx="10515600" cy="1325563"/>
          </a:xfrm>
        </p:spPr>
        <p:txBody>
          <a:bodyPr>
            <a:normAutofit/>
          </a:bodyPr>
          <a:lstStyle/>
          <a:p>
            <a:r>
              <a:rPr lang="en-US" sz="6000" dirty="0" err="1"/>
              <a:t>Fitts</a:t>
            </a:r>
            <a:r>
              <a:rPr lang="en-US" sz="6000" dirty="0"/>
              <a:t>’ Law (1954)</a:t>
            </a:r>
          </a:p>
        </p:txBody>
      </p:sp>
      <mc:AlternateContent xmlns:mc="http://schemas.openxmlformats.org/markup-compatibility/2006" xmlns:a14="http://schemas.microsoft.com/office/drawing/2010/main">
        <mc:Choice Requires="a14">
          <p:sp>
            <p:nvSpPr>
              <p:cNvPr id="4" name="TextBox 3"/>
              <p:cNvSpPr txBox="1"/>
              <p:nvPr/>
            </p:nvSpPr>
            <p:spPr>
              <a:xfrm>
                <a:off x="6735" y="2760411"/>
                <a:ext cx="7971156" cy="13831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733" i="1" smtClean="0">
                          <a:latin typeface="Cambria Math"/>
                        </a:rPr>
                        <m:t>𝑀</m:t>
                      </m:r>
                      <m:r>
                        <a:rPr lang="en-US" sz="3733" b="0" i="1" smtClean="0">
                          <a:latin typeface="Cambria Math" panose="02040503050406030204" pitchFamily="18" charset="0"/>
                        </a:rPr>
                        <m:t>𝑜𝑣𝑒𝑚𝑒𝑛𝑡𝑇𝑖𝑚𝑒</m:t>
                      </m:r>
                      <m:r>
                        <a:rPr lang="en-US" sz="3733" i="1">
                          <a:latin typeface="Cambria Math"/>
                        </a:rPr>
                        <m:t>=</m:t>
                      </m:r>
                      <m:r>
                        <a:rPr lang="en-US" sz="3733" i="1">
                          <a:latin typeface="Cambria Math"/>
                        </a:rPr>
                        <m:t>𝑎</m:t>
                      </m:r>
                      <m:r>
                        <a:rPr lang="en-US" sz="3733" i="1">
                          <a:latin typeface="Cambria Math"/>
                        </a:rPr>
                        <m:t>+</m:t>
                      </m:r>
                      <m:r>
                        <a:rPr lang="en-US" sz="3733" i="1">
                          <a:latin typeface="Cambria Math"/>
                        </a:rPr>
                        <m:t>𝑏</m:t>
                      </m:r>
                      <m:d>
                        <m:dPr>
                          <m:begChr m:val="["/>
                          <m:endChr m:val="]"/>
                          <m:ctrlPr>
                            <a:rPr lang="en-US" sz="3733" i="1">
                              <a:latin typeface="Cambria Math" panose="02040503050406030204" pitchFamily="18" charset="0"/>
                            </a:rPr>
                          </m:ctrlPr>
                        </m:dPr>
                        <m:e>
                          <m:r>
                            <a:rPr lang="en-US" sz="3733" i="1">
                              <a:latin typeface="Cambria Math"/>
                            </a:rPr>
                            <m:t>⁡</m:t>
                          </m:r>
                          <m:sSub>
                            <m:sSubPr>
                              <m:ctrlPr>
                                <a:rPr lang="en-US" sz="3733" i="1">
                                  <a:latin typeface="Cambria Math" panose="02040503050406030204" pitchFamily="18" charset="0"/>
                                </a:rPr>
                              </m:ctrlPr>
                            </m:sSubPr>
                            <m:e>
                              <m:r>
                                <m:rPr>
                                  <m:sty m:val="p"/>
                                </m:rPr>
                                <a:rPr lang="en-US" sz="3733">
                                  <a:latin typeface="Cambria Math"/>
                                </a:rPr>
                                <m:t>log</m:t>
                              </m:r>
                            </m:e>
                            <m:sub>
                              <m:r>
                                <a:rPr lang="en-US" sz="3733" i="1">
                                  <a:latin typeface="Cambria Math"/>
                                </a:rPr>
                                <m:t>2</m:t>
                              </m:r>
                            </m:sub>
                          </m:sSub>
                          <m:d>
                            <m:dPr>
                              <m:ctrlPr>
                                <a:rPr lang="en-US" sz="3733" i="1">
                                  <a:latin typeface="Cambria Math" panose="02040503050406030204" pitchFamily="18" charset="0"/>
                                </a:rPr>
                              </m:ctrlPr>
                            </m:dPr>
                            <m:e>
                              <m:f>
                                <m:fPr>
                                  <m:ctrlPr>
                                    <a:rPr lang="en-US" sz="3733" i="1">
                                      <a:latin typeface="Cambria Math" panose="02040503050406030204" pitchFamily="18" charset="0"/>
                                    </a:rPr>
                                  </m:ctrlPr>
                                </m:fPr>
                                <m:num>
                                  <m:r>
                                    <a:rPr lang="en-US" sz="3733" i="1">
                                      <a:latin typeface="Cambria Math"/>
                                    </a:rPr>
                                    <m:t>2</m:t>
                                  </m:r>
                                  <m:r>
                                    <a:rPr lang="en-US" sz="3733" i="1">
                                      <a:latin typeface="Cambria Math"/>
                                    </a:rPr>
                                    <m:t>𝐴</m:t>
                                  </m:r>
                                </m:num>
                                <m:den>
                                  <m:r>
                                    <a:rPr lang="en-US" sz="3733" i="1">
                                      <a:latin typeface="Cambria Math"/>
                                    </a:rPr>
                                    <m:t>𝑊</m:t>
                                  </m:r>
                                </m:den>
                              </m:f>
                            </m:e>
                          </m:d>
                        </m:e>
                      </m:d>
                    </m:oMath>
                  </m:oMathPara>
                </a14:m>
                <a:endParaRPr lang="en-US" sz="3733" dirty="0"/>
              </a:p>
            </p:txBody>
          </p:sp>
        </mc:Choice>
        <mc:Fallback xmlns="">
          <p:sp>
            <p:nvSpPr>
              <p:cNvPr id="4" name="TextBox 3"/>
              <p:cNvSpPr txBox="1">
                <a:spLocks noRot="1" noChangeAspect="1" noMove="1" noResize="1" noEditPoints="1" noAdjustHandles="1" noChangeArrowheads="1" noChangeShapeType="1" noTextEdit="1"/>
              </p:cNvSpPr>
              <p:nvPr/>
            </p:nvSpPr>
            <p:spPr>
              <a:xfrm>
                <a:off x="6735" y="2760411"/>
                <a:ext cx="7971156" cy="138313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972910" y="4424351"/>
                <a:ext cx="4668009" cy="66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733" i="1">
                          <a:latin typeface="Cambria Math"/>
                        </a:rPr>
                        <m:t>𝑎</m:t>
                      </m:r>
                      <m:r>
                        <a:rPr lang="en-US" sz="3733" i="1">
                          <a:latin typeface="Cambria Math"/>
                        </a:rPr>
                        <m:t> </m:t>
                      </m:r>
                      <m:r>
                        <m:rPr>
                          <m:sty m:val="p"/>
                        </m:rPr>
                        <a:rPr lang="en-US" sz="3733">
                          <a:latin typeface="Cambria Math"/>
                        </a:rPr>
                        <m:t>and</m:t>
                      </m:r>
                      <m:r>
                        <a:rPr lang="en-US" sz="3733">
                          <a:latin typeface="Cambria Math"/>
                        </a:rPr>
                        <m:t> </m:t>
                      </m:r>
                      <m:r>
                        <a:rPr lang="en-US" sz="3733" i="1">
                          <a:latin typeface="Cambria Math"/>
                        </a:rPr>
                        <m:t>𝑏</m:t>
                      </m:r>
                      <m:r>
                        <a:rPr lang="en-US" sz="3733" i="1">
                          <a:latin typeface="Cambria Math"/>
                        </a:rPr>
                        <m:t> </m:t>
                      </m:r>
                      <m:r>
                        <m:rPr>
                          <m:sty m:val="p"/>
                        </m:rPr>
                        <a:rPr lang="en-US" sz="3733">
                          <a:latin typeface="Cambria Math"/>
                        </a:rPr>
                        <m:t>are</m:t>
                      </m:r>
                      <m:r>
                        <a:rPr lang="en-US" sz="3733">
                          <a:latin typeface="Cambria Math"/>
                        </a:rPr>
                        <m:t> </m:t>
                      </m:r>
                      <m:r>
                        <m:rPr>
                          <m:sty m:val="p"/>
                        </m:rPr>
                        <a:rPr lang="en-US" sz="3733">
                          <a:latin typeface="Cambria Math"/>
                        </a:rPr>
                        <m:t>constants</m:t>
                      </m:r>
                    </m:oMath>
                  </m:oMathPara>
                </a14:m>
                <a:endParaRPr lang="en-US" sz="3733" dirty="0"/>
              </a:p>
            </p:txBody>
          </p:sp>
        </mc:Choice>
        <mc:Fallback xmlns="">
          <p:sp>
            <p:nvSpPr>
              <p:cNvPr id="5" name="TextBox 4"/>
              <p:cNvSpPr txBox="1">
                <a:spLocks noRot="1" noChangeAspect="1" noMove="1" noResize="1" noEditPoints="1" noAdjustHandles="1" noChangeArrowheads="1" noChangeShapeType="1" noTextEdit="1"/>
              </p:cNvSpPr>
              <p:nvPr/>
            </p:nvSpPr>
            <p:spPr>
              <a:xfrm>
                <a:off x="972910" y="4424351"/>
                <a:ext cx="4668009" cy="6667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972909" y="5191129"/>
                <a:ext cx="5589864" cy="66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733" i="1">
                          <a:latin typeface="Cambria Math"/>
                        </a:rPr>
                        <m:t>𝐴</m:t>
                      </m:r>
                      <m:r>
                        <a:rPr lang="en-US" sz="3733" i="1">
                          <a:latin typeface="Cambria Math"/>
                        </a:rPr>
                        <m:t> </m:t>
                      </m:r>
                      <m:r>
                        <m:rPr>
                          <m:sty m:val="p"/>
                        </m:rPr>
                        <a:rPr lang="en-US" sz="3733">
                          <a:latin typeface="Cambria Math"/>
                        </a:rPr>
                        <m:t>is</m:t>
                      </m:r>
                      <m:r>
                        <a:rPr lang="en-US" sz="3733">
                          <a:latin typeface="Cambria Math"/>
                        </a:rPr>
                        <m:t> </m:t>
                      </m:r>
                      <m:r>
                        <m:rPr>
                          <m:sty m:val="p"/>
                        </m:rPr>
                        <a:rPr lang="en-US" sz="3733">
                          <a:latin typeface="Cambria Math"/>
                        </a:rPr>
                        <m:t>Movement</m:t>
                      </m:r>
                      <m:r>
                        <a:rPr lang="en-US" sz="3733">
                          <a:latin typeface="Cambria Math"/>
                        </a:rPr>
                        <m:t> </m:t>
                      </m:r>
                      <m:r>
                        <m:rPr>
                          <m:sty m:val="p"/>
                        </m:rPr>
                        <a:rPr lang="en-US" sz="3733">
                          <a:latin typeface="Cambria Math"/>
                        </a:rPr>
                        <m:t>Amplitude</m:t>
                      </m:r>
                    </m:oMath>
                  </m:oMathPara>
                </a14:m>
                <a:endParaRPr lang="en-US" sz="3733" dirty="0"/>
              </a:p>
            </p:txBody>
          </p:sp>
        </mc:Choice>
        <mc:Fallback xmlns="">
          <p:sp>
            <p:nvSpPr>
              <p:cNvPr id="6" name="TextBox 5"/>
              <p:cNvSpPr txBox="1">
                <a:spLocks noRot="1" noChangeAspect="1" noMove="1" noResize="1" noEditPoints="1" noAdjustHandles="1" noChangeArrowheads="1" noChangeShapeType="1" noTextEdit="1"/>
              </p:cNvSpPr>
              <p:nvPr/>
            </p:nvSpPr>
            <p:spPr>
              <a:xfrm>
                <a:off x="972909" y="5191129"/>
                <a:ext cx="5589864" cy="6667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72909" y="5965441"/>
                <a:ext cx="4039376" cy="66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733" i="1">
                          <a:latin typeface="Cambria Math"/>
                        </a:rPr>
                        <m:t>𝑊</m:t>
                      </m:r>
                      <m:r>
                        <a:rPr lang="en-US" sz="3733" i="1">
                          <a:latin typeface="Cambria Math"/>
                        </a:rPr>
                        <m:t> </m:t>
                      </m:r>
                      <m:r>
                        <m:rPr>
                          <m:sty m:val="p"/>
                        </m:rPr>
                        <a:rPr lang="en-US" sz="3733">
                          <a:latin typeface="Cambria Math"/>
                        </a:rPr>
                        <m:t>is</m:t>
                      </m:r>
                      <m:r>
                        <a:rPr lang="en-US" sz="3733">
                          <a:latin typeface="Cambria Math"/>
                        </a:rPr>
                        <m:t> </m:t>
                      </m:r>
                      <m:r>
                        <m:rPr>
                          <m:sty m:val="p"/>
                        </m:rPr>
                        <a:rPr lang="en-US" sz="3733">
                          <a:latin typeface="Cambria Math"/>
                        </a:rPr>
                        <m:t>Target</m:t>
                      </m:r>
                      <m:r>
                        <a:rPr lang="en-US" sz="3733">
                          <a:latin typeface="Cambria Math"/>
                        </a:rPr>
                        <m:t> </m:t>
                      </m:r>
                      <m:r>
                        <m:rPr>
                          <m:sty m:val="p"/>
                        </m:rPr>
                        <a:rPr lang="en-US" sz="3733">
                          <a:latin typeface="Cambria Math"/>
                        </a:rPr>
                        <m:t>Width</m:t>
                      </m:r>
                    </m:oMath>
                  </m:oMathPara>
                </a14:m>
                <a:endParaRPr lang="en-US" sz="3733" dirty="0"/>
              </a:p>
            </p:txBody>
          </p:sp>
        </mc:Choice>
        <mc:Fallback xmlns="">
          <p:sp>
            <p:nvSpPr>
              <p:cNvPr id="7" name="TextBox 6"/>
              <p:cNvSpPr txBox="1">
                <a:spLocks noRot="1" noChangeAspect="1" noMove="1" noResize="1" noEditPoints="1" noAdjustHandles="1" noChangeArrowheads="1" noChangeShapeType="1" noTextEdit="1"/>
              </p:cNvSpPr>
              <p:nvPr/>
            </p:nvSpPr>
            <p:spPr>
              <a:xfrm>
                <a:off x="972909" y="5965441"/>
                <a:ext cx="4039376" cy="666786"/>
              </a:xfrm>
              <a:prstGeom prst="rect">
                <a:avLst/>
              </a:prstGeom>
              <a:blipFill>
                <a:blip r:embed="rId7"/>
                <a:stretch>
                  <a:fillRect/>
                </a:stretch>
              </a:blipFill>
            </p:spPr>
            <p:txBody>
              <a:bodyPr/>
              <a:lstStyle/>
              <a:p>
                <a:r>
                  <a:rPr lang="en-US">
                    <a:noFill/>
                  </a:rPr>
                  <a:t> </a:t>
                </a:r>
              </a:p>
            </p:txBody>
          </p:sp>
        </mc:Fallback>
      </mc:AlternateContent>
      <p:sp>
        <p:nvSpPr>
          <p:cNvPr id="8" name="Left Brace 7"/>
          <p:cNvSpPr/>
          <p:nvPr/>
        </p:nvSpPr>
        <p:spPr>
          <a:xfrm rot="5400000">
            <a:off x="6200463" y="1144448"/>
            <a:ext cx="724619" cy="2520857"/>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9" name="TextBox 8"/>
              <p:cNvSpPr txBox="1"/>
              <p:nvPr/>
            </p:nvSpPr>
            <p:spPr>
              <a:xfrm>
                <a:off x="3533503" y="1379436"/>
                <a:ext cx="4969244" cy="66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733" i="1">
                          <a:latin typeface="Cambria Math"/>
                        </a:rPr>
                        <m:t>𝐼𝐷</m:t>
                      </m:r>
                      <m:r>
                        <a:rPr lang="en-US" sz="3733">
                          <a:latin typeface="Cambria Math"/>
                        </a:rPr>
                        <m:t> (</m:t>
                      </m:r>
                      <m:r>
                        <m:rPr>
                          <m:sty m:val="p"/>
                        </m:rPr>
                        <a:rPr lang="en-US" sz="3733">
                          <a:latin typeface="Cambria Math"/>
                        </a:rPr>
                        <m:t>Index</m:t>
                      </m:r>
                      <m:r>
                        <a:rPr lang="en-US" sz="3733">
                          <a:latin typeface="Cambria Math"/>
                        </a:rPr>
                        <m:t> </m:t>
                      </m:r>
                      <m:r>
                        <m:rPr>
                          <m:sty m:val="p"/>
                        </m:rPr>
                        <a:rPr lang="en-US" sz="3733">
                          <a:latin typeface="Cambria Math"/>
                        </a:rPr>
                        <m:t>of</m:t>
                      </m:r>
                      <m:r>
                        <a:rPr lang="en-US" sz="3733">
                          <a:latin typeface="Cambria Math"/>
                        </a:rPr>
                        <m:t> </m:t>
                      </m:r>
                      <m:r>
                        <m:rPr>
                          <m:sty m:val="p"/>
                        </m:rPr>
                        <a:rPr lang="en-US" sz="3733">
                          <a:latin typeface="Cambria Math"/>
                        </a:rPr>
                        <m:t>Difficulty</m:t>
                      </m:r>
                      <m:r>
                        <a:rPr lang="en-US" sz="3733">
                          <a:latin typeface="Cambria Math"/>
                        </a:rPr>
                        <m:t>)</m:t>
                      </m:r>
                    </m:oMath>
                  </m:oMathPara>
                </a14:m>
                <a:endParaRPr lang="en-US" sz="3733" dirty="0"/>
              </a:p>
            </p:txBody>
          </p:sp>
        </mc:Choice>
        <mc:Fallback xmlns="">
          <p:sp>
            <p:nvSpPr>
              <p:cNvPr id="9" name="TextBox 8"/>
              <p:cNvSpPr txBox="1">
                <a:spLocks noRot="1" noChangeAspect="1" noMove="1" noResize="1" noEditPoints="1" noAdjustHandles="1" noChangeArrowheads="1" noChangeShapeType="1" noTextEdit="1"/>
              </p:cNvSpPr>
              <p:nvPr/>
            </p:nvSpPr>
            <p:spPr>
              <a:xfrm>
                <a:off x="3533503" y="1379436"/>
                <a:ext cx="4969244" cy="666786"/>
              </a:xfrm>
              <a:prstGeom prst="rect">
                <a:avLst/>
              </a:prstGeom>
              <a:blipFill>
                <a:blip r:embed="rId8"/>
                <a:stretch>
                  <a:fillRect/>
                </a:stretch>
              </a:blipFill>
            </p:spPr>
            <p:txBody>
              <a:bodyPr/>
              <a:lstStyle/>
              <a:p>
                <a:r>
                  <a:rPr lang="en-US">
                    <a:noFill/>
                  </a:rPr>
                  <a:t> </a:t>
                </a:r>
              </a:p>
            </p:txBody>
          </p:sp>
        </mc:Fallback>
      </mc:AlternateContent>
      <p:sp>
        <p:nvSpPr>
          <p:cNvPr id="12" name="Content Placeholder 11">
            <a:extLst>
              <a:ext uri="{FF2B5EF4-FFF2-40B4-BE49-F238E27FC236}">
                <a16:creationId xmlns:a16="http://schemas.microsoft.com/office/drawing/2014/main" id="{FCDC0F70-126D-4E30-B6C7-692AADDE65E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6418942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descr="http://www.tele-actor.net/fitts/tappin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1804" y="1961367"/>
            <a:ext cx="6923736" cy="3807068"/>
          </a:xfrm>
          <a:prstGeom prst="rect">
            <a:avLst/>
          </a:prstGeom>
          <a:noFill/>
          <a:extLst>
            <a:ext uri="{909E8E84-426E-40DD-AFC4-6F175D3DCCD1}">
              <a14:hiddenFill xmlns:a14="http://schemas.microsoft.com/office/drawing/2010/main">
                <a:solidFill>
                  <a:srgbClr val="FFFFFF"/>
                </a:solidFill>
              </a14:hiddenFill>
            </a:ext>
          </a:extLst>
        </p:spPr>
      </p:pic>
      <p:sp>
        <p:nvSpPr>
          <p:cNvPr id="4" name="Left Brace 3"/>
          <p:cNvSpPr/>
          <p:nvPr/>
        </p:nvSpPr>
        <p:spPr>
          <a:xfrm rot="14624587">
            <a:off x="5694294" y="3309234"/>
            <a:ext cx="483079" cy="232602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6" name="Left Brace 5"/>
          <p:cNvSpPr/>
          <p:nvPr/>
        </p:nvSpPr>
        <p:spPr>
          <a:xfrm rot="3298062">
            <a:off x="5647630" y="2648990"/>
            <a:ext cx="483079" cy="218981"/>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5" name="TextBox 4"/>
          <p:cNvSpPr txBox="1"/>
          <p:nvPr/>
        </p:nvSpPr>
        <p:spPr>
          <a:xfrm>
            <a:off x="5115626" y="2065658"/>
            <a:ext cx="1026243" cy="461665"/>
          </a:xfrm>
          <a:prstGeom prst="rect">
            <a:avLst/>
          </a:prstGeom>
          <a:noFill/>
        </p:spPr>
        <p:txBody>
          <a:bodyPr wrap="none" rtlCol="0">
            <a:spAutoFit/>
          </a:bodyPr>
          <a:lstStyle/>
          <a:p>
            <a:r>
              <a:rPr lang="en-US" sz="2400" dirty="0"/>
              <a:t>4 units</a:t>
            </a:r>
          </a:p>
        </p:txBody>
      </p:sp>
      <p:sp>
        <p:nvSpPr>
          <p:cNvPr id="8" name="TextBox 7"/>
          <p:cNvSpPr txBox="1"/>
          <p:nvPr/>
        </p:nvSpPr>
        <p:spPr>
          <a:xfrm>
            <a:off x="5572240" y="4710937"/>
            <a:ext cx="1181734" cy="461665"/>
          </a:xfrm>
          <a:prstGeom prst="rect">
            <a:avLst/>
          </a:prstGeom>
          <a:noFill/>
        </p:spPr>
        <p:txBody>
          <a:bodyPr wrap="none" rtlCol="0">
            <a:spAutoFit/>
          </a:bodyPr>
          <a:lstStyle/>
          <a:p>
            <a:r>
              <a:rPr lang="en-US" sz="2400" dirty="0"/>
              <a:t>16 units</a:t>
            </a:r>
          </a:p>
        </p:txBody>
      </p:sp>
    </p:spTree>
    <p:extLst>
      <p:ext uri="{BB962C8B-B14F-4D97-AF65-F5344CB8AC3E}">
        <p14:creationId xmlns:p14="http://schemas.microsoft.com/office/powerpoint/2010/main" val="17548666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A close up of a logo&#10;&#10;Description generated with very high confidence">
            <a:extLst>
              <a:ext uri="{FF2B5EF4-FFF2-40B4-BE49-F238E27FC236}">
                <a16:creationId xmlns:a16="http://schemas.microsoft.com/office/drawing/2014/main" id="{B04B7450-C357-428B-B9C8-071342FDAAC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56487" y="2146041"/>
            <a:ext cx="5262115" cy="3382788"/>
          </a:xfrm>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473399" y="1690688"/>
            <a:ext cx="5692270" cy="4085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8324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9267A-5E68-4901-88A8-13F80AE647AA}"/>
              </a:ext>
            </a:extLst>
          </p:cNvPr>
          <p:cNvSpPr>
            <a:spLocks noGrp="1"/>
          </p:cNvSpPr>
          <p:nvPr>
            <p:ph type="title"/>
          </p:nvPr>
        </p:nvSpPr>
        <p:spPr/>
        <p:txBody>
          <a:bodyPr/>
          <a:lstStyle/>
          <a:p>
            <a:endParaRPr lang="en-US"/>
          </a:p>
        </p:txBody>
      </p:sp>
      <p:pic>
        <p:nvPicPr>
          <p:cNvPr id="5" name="Content Placeholder 4" descr="A screenshot of a cell phone&#10;&#10;Description generated with very high confidence">
            <a:extLst>
              <a:ext uri="{FF2B5EF4-FFF2-40B4-BE49-F238E27FC236}">
                <a16:creationId xmlns:a16="http://schemas.microsoft.com/office/drawing/2014/main" id="{2103FC72-AF3B-44B0-9F74-A2219CBC2F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3764" y="2675353"/>
            <a:ext cx="4205478" cy="1823184"/>
          </a:xfrm>
        </p:spPr>
      </p:pic>
      <p:pic>
        <p:nvPicPr>
          <p:cNvPr id="8" name="Picture 7">
            <a:extLst>
              <a:ext uri="{FF2B5EF4-FFF2-40B4-BE49-F238E27FC236}">
                <a16:creationId xmlns:a16="http://schemas.microsoft.com/office/drawing/2014/main" id="{FA062DA1-8350-40E5-B3B5-D5E5E99EC03A}"/>
              </a:ext>
            </a:extLst>
          </p:cNvPr>
          <p:cNvPicPr>
            <a:picLocks noChangeAspect="1"/>
          </p:cNvPicPr>
          <p:nvPr/>
        </p:nvPicPr>
        <p:blipFill>
          <a:blip r:embed="rId3"/>
          <a:stretch>
            <a:fillRect/>
          </a:stretch>
        </p:blipFill>
        <p:spPr>
          <a:xfrm>
            <a:off x="5019870" y="1828941"/>
            <a:ext cx="4205478" cy="3907894"/>
          </a:xfrm>
          <a:prstGeom prst="rect">
            <a:avLst/>
          </a:prstGeom>
        </p:spPr>
      </p:pic>
      <p:sp>
        <p:nvSpPr>
          <p:cNvPr id="9" name="TextBox 8">
            <a:extLst>
              <a:ext uri="{FF2B5EF4-FFF2-40B4-BE49-F238E27FC236}">
                <a16:creationId xmlns:a16="http://schemas.microsoft.com/office/drawing/2014/main" id="{99C17652-2024-4865-8589-37D40C938312}"/>
              </a:ext>
            </a:extLst>
          </p:cNvPr>
          <p:cNvSpPr txBox="1"/>
          <p:nvPr/>
        </p:nvSpPr>
        <p:spPr>
          <a:xfrm>
            <a:off x="683764" y="2006082"/>
            <a:ext cx="1252266" cy="369332"/>
          </a:xfrm>
          <a:prstGeom prst="rect">
            <a:avLst/>
          </a:prstGeom>
          <a:noFill/>
        </p:spPr>
        <p:txBody>
          <a:bodyPr wrap="none" rtlCol="0">
            <a:spAutoFit/>
          </a:bodyPr>
          <a:lstStyle/>
          <a:p>
            <a:r>
              <a:rPr lang="en-US" dirty="0"/>
              <a:t>2010 Gmail</a:t>
            </a:r>
          </a:p>
        </p:txBody>
      </p:sp>
      <p:sp>
        <p:nvSpPr>
          <p:cNvPr id="10" name="TextBox 9">
            <a:extLst>
              <a:ext uri="{FF2B5EF4-FFF2-40B4-BE49-F238E27FC236}">
                <a16:creationId xmlns:a16="http://schemas.microsoft.com/office/drawing/2014/main" id="{AC22EAD0-14B8-4014-9FA9-3DD8A3E9D995}"/>
              </a:ext>
            </a:extLst>
          </p:cNvPr>
          <p:cNvSpPr txBox="1"/>
          <p:nvPr/>
        </p:nvSpPr>
        <p:spPr>
          <a:xfrm>
            <a:off x="5019870" y="1390483"/>
            <a:ext cx="1252266" cy="369332"/>
          </a:xfrm>
          <a:prstGeom prst="rect">
            <a:avLst/>
          </a:prstGeom>
          <a:noFill/>
        </p:spPr>
        <p:txBody>
          <a:bodyPr wrap="none" rtlCol="0">
            <a:spAutoFit/>
          </a:bodyPr>
          <a:lstStyle/>
          <a:p>
            <a:r>
              <a:rPr lang="en-US" dirty="0"/>
              <a:t>2018 Gmail</a:t>
            </a:r>
          </a:p>
        </p:txBody>
      </p:sp>
      <p:pic>
        <p:nvPicPr>
          <p:cNvPr id="12" name="Picture 11" descr="A picture containing table, next, sitting, sky&#10;&#10;Description generated with high confidence">
            <a:extLst>
              <a:ext uri="{FF2B5EF4-FFF2-40B4-BE49-F238E27FC236}">
                <a16:creationId xmlns:a16="http://schemas.microsoft.com/office/drawing/2014/main" id="{84B16668-834D-48CB-A83B-EE582E9715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44987" y="2893816"/>
            <a:ext cx="2349988" cy="2349988"/>
          </a:xfrm>
          <a:prstGeom prst="rect">
            <a:avLst/>
          </a:prstGeom>
        </p:spPr>
      </p:pic>
      <p:sp>
        <p:nvSpPr>
          <p:cNvPr id="13" name="TextBox 12">
            <a:extLst>
              <a:ext uri="{FF2B5EF4-FFF2-40B4-BE49-F238E27FC236}">
                <a16:creationId xmlns:a16="http://schemas.microsoft.com/office/drawing/2014/main" id="{CC3DD2C8-3C05-48D0-BF3B-0D8D691CFBE9}"/>
              </a:ext>
            </a:extLst>
          </p:cNvPr>
          <p:cNvSpPr txBox="1"/>
          <p:nvPr/>
        </p:nvSpPr>
        <p:spPr>
          <a:xfrm>
            <a:off x="9678956" y="2328636"/>
            <a:ext cx="1900200" cy="369332"/>
          </a:xfrm>
          <a:prstGeom prst="rect">
            <a:avLst/>
          </a:prstGeom>
          <a:noFill/>
        </p:spPr>
        <p:txBody>
          <a:bodyPr wrap="none" rtlCol="0">
            <a:spAutoFit/>
          </a:bodyPr>
          <a:lstStyle/>
          <a:p>
            <a:r>
              <a:rPr lang="en-US" dirty="0"/>
              <a:t>Apple Watch Apps</a:t>
            </a:r>
          </a:p>
        </p:txBody>
      </p:sp>
    </p:spTree>
    <p:extLst>
      <p:ext uri="{BB962C8B-B14F-4D97-AF65-F5344CB8AC3E}">
        <p14:creationId xmlns:p14="http://schemas.microsoft.com/office/powerpoint/2010/main" val="42476159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ower_law">
            <a:extLst>
              <a:ext uri="{FF2B5EF4-FFF2-40B4-BE49-F238E27FC236}">
                <a16:creationId xmlns:a16="http://schemas.microsoft.com/office/drawing/2014/main" id="{BB06CEC2-0089-274F-B728-955F7E430E04}"/>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5186079" y="187601"/>
            <a:ext cx="6466343" cy="6484524"/>
          </a:xfrm>
          <a:prstGeom prst="rect">
            <a:avLst/>
          </a:prstGeom>
          <a:noFill/>
        </p:spPr>
      </p:pic>
      <p:sp>
        <p:nvSpPr>
          <p:cNvPr id="2" name="Title 1">
            <a:extLst>
              <a:ext uri="{FF2B5EF4-FFF2-40B4-BE49-F238E27FC236}">
                <a16:creationId xmlns:a16="http://schemas.microsoft.com/office/drawing/2014/main" id="{BFCBB8F1-2923-0141-AC3B-05584C14146F}"/>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Steven’s Power Law</a:t>
            </a:r>
          </a:p>
        </p:txBody>
      </p:sp>
    </p:spTree>
    <p:extLst>
      <p:ext uri="{BB962C8B-B14F-4D97-AF65-F5344CB8AC3E}">
        <p14:creationId xmlns:p14="http://schemas.microsoft.com/office/powerpoint/2010/main" val="229130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D388-7882-4AE5-9931-CB78BA04F8D0}"/>
              </a:ext>
            </a:extLst>
          </p:cNvPr>
          <p:cNvSpPr>
            <a:spLocks noGrp="1"/>
          </p:cNvSpPr>
          <p:nvPr>
            <p:ph type="title"/>
          </p:nvPr>
        </p:nvSpPr>
        <p:spPr/>
        <p:txBody>
          <a:bodyPr/>
          <a:lstStyle/>
          <a:p>
            <a:r>
              <a:rPr lang="en-US" dirty="0"/>
              <a:t>Hick’s Law</a:t>
            </a:r>
          </a:p>
        </p:txBody>
      </p:sp>
      <p:pic>
        <p:nvPicPr>
          <p:cNvPr id="5" name="Content Placeholder 4" descr="A screenshot of a cell phone&#10;&#10;Description generated with very high confidence">
            <a:extLst>
              <a:ext uri="{FF2B5EF4-FFF2-40B4-BE49-F238E27FC236}">
                <a16:creationId xmlns:a16="http://schemas.microsoft.com/office/drawing/2014/main" id="{10B35823-1261-46CB-A80F-F5C39F64E3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648" y="1834956"/>
            <a:ext cx="5999690" cy="4351338"/>
          </a:xfrm>
        </p:spPr>
      </p:pic>
      <p:pic>
        <p:nvPicPr>
          <p:cNvPr id="7" name="Picture 6" descr="A screenshot of a cell phone&#10;&#10;Description generated with high confidence">
            <a:extLst>
              <a:ext uri="{FF2B5EF4-FFF2-40B4-BE49-F238E27FC236}">
                <a16:creationId xmlns:a16="http://schemas.microsoft.com/office/drawing/2014/main" id="{DD3B2892-BECE-47C3-80EC-6F22492C7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826" y="1955421"/>
            <a:ext cx="5445526" cy="4165461"/>
          </a:xfrm>
          <a:prstGeom prst="rect">
            <a:avLst/>
          </a:prstGeom>
        </p:spPr>
      </p:pic>
    </p:spTree>
    <p:extLst>
      <p:ext uri="{BB962C8B-B14F-4D97-AF65-F5344CB8AC3E}">
        <p14:creationId xmlns:p14="http://schemas.microsoft.com/office/powerpoint/2010/main" val="1309568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00BC-B909-4F63-AC39-24B70E9CBAE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dirty="0">
                <a:solidFill>
                  <a:srgbClr val="FFFFFF"/>
                </a:solidFill>
                <a:latin typeface="+mj-lt"/>
                <a:ea typeface="+mj-ea"/>
                <a:cs typeface="+mj-cs"/>
              </a:rPr>
              <a:t>Yerkes–Dodson law</a:t>
            </a:r>
          </a:p>
        </p:txBody>
      </p:sp>
      <p:pic>
        <p:nvPicPr>
          <p:cNvPr id="5" name="Content Placeholder 4" descr="A close up of a map&#10;&#10;Description generated with high confidence">
            <a:extLst>
              <a:ext uri="{FF2B5EF4-FFF2-40B4-BE49-F238E27FC236}">
                <a16:creationId xmlns:a16="http://schemas.microsoft.com/office/drawing/2014/main" id="{33E9B288-938F-4D1E-BFC3-9AA5CA3888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72494" y="587554"/>
            <a:ext cx="7188199" cy="4079303"/>
          </a:xfrm>
          <a:prstGeom prst="rect">
            <a:avLst/>
          </a:prstGeom>
        </p:spPr>
      </p:pic>
      <p:pic>
        <p:nvPicPr>
          <p:cNvPr id="4" name="Picture 3" descr="A picture containing table, indoor, person, sitting&#10;&#10;Description generated with very high confidence">
            <a:extLst>
              <a:ext uri="{FF2B5EF4-FFF2-40B4-BE49-F238E27FC236}">
                <a16:creationId xmlns:a16="http://schemas.microsoft.com/office/drawing/2014/main" id="{4428CE70-4412-4F53-A560-B8FFBFB9B0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3413" y="4502097"/>
            <a:ext cx="2266968" cy="2355903"/>
          </a:xfrm>
          <a:prstGeom prst="rect">
            <a:avLst/>
          </a:prstGeom>
        </p:spPr>
      </p:pic>
      <p:pic>
        <p:nvPicPr>
          <p:cNvPr id="3" name="Picture 2">
            <a:extLst>
              <a:ext uri="{FF2B5EF4-FFF2-40B4-BE49-F238E27FC236}">
                <a16:creationId xmlns:a16="http://schemas.microsoft.com/office/drawing/2014/main" id="{CA8BEA22-ABD2-2D42-96A2-AAA60C32599E}"/>
              </a:ext>
            </a:extLst>
          </p:cNvPr>
          <p:cNvPicPr>
            <a:picLocks noChangeAspect="1"/>
          </p:cNvPicPr>
          <p:nvPr/>
        </p:nvPicPr>
        <p:blipFill>
          <a:blip r:embed="rId5"/>
          <a:stretch>
            <a:fillRect/>
          </a:stretch>
        </p:blipFill>
        <p:spPr>
          <a:xfrm>
            <a:off x="3187849" y="4648287"/>
            <a:ext cx="4127044" cy="2063522"/>
          </a:xfrm>
          <a:prstGeom prst="rect">
            <a:avLst/>
          </a:prstGeom>
        </p:spPr>
      </p:pic>
    </p:spTree>
    <p:extLst>
      <p:ext uri="{BB962C8B-B14F-4D97-AF65-F5344CB8AC3E}">
        <p14:creationId xmlns:p14="http://schemas.microsoft.com/office/powerpoint/2010/main" val="3877919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00BC-B909-4F63-AC39-24B70E9CBAE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dirty="0">
                <a:solidFill>
                  <a:srgbClr val="FFFFFF"/>
                </a:solidFill>
                <a:latin typeface="+mj-lt"/>
                <a:ea typeface="+mj-ea"/>
                <a:cs typeface="+mj-cs"/>
              </a:rPr>
              <a:t>Yerkes–Dodson law</a:t>
            </a:r>
          </a:p>
        </p:txBody>
      </p:sp>
      <p:pic>
        <p:nvPicPr>
          <p:cNvPr id="8" name="Picture 7">
            <a:extLst>
              <a:ext uri="{FF2B5EF4-FFF2-40B4-BE49-F238E27FC236}">
                <a16:creationId xmlns:a16="http://schemas.microsoft.com/office/drawing/2014/main" id="{E5AC037A-B129-4C46-A1C5-2338AC884761}"/>
              </a:ext>
            </a:extLst>
          </p:cNvPr>
          <p:cNvPicPr>
            <a:picLocks noChangeAspect="1"/>
          </p:cNvPicPr>
          <p:nvPr/>
        </p:nvPicPr>
        <p:blipFill>
          <a:blip r:embed="rId3"/>
          <a:stretch>
            <a:fillRect/>
          </a:stretch>
        </p:blipFill>
        <p:spPr>
          <a:xfrm>
            <a:off x="4830800" y="0"/>
            <a:ext cx="5928306" cy="6858000"/>
          </a:xfrm>
          <a:prstGeom prst="rect">
            <a:avLst/>
          </a:prstGeom>
        </p:spPr>
      </p:pic>
    </p:spTree>
    <p:extLst>
      <p:ext uri="{BB962C8B-B14F-4D97-AF65-F5344CB8AC3E}">
        <p14:creationId xmlns:p14="http://schemas.microsoft.com/office/powerpoint/2010/main" val="33829142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00282-2A2C-46F3-9817-0ECA12C47920}"/>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a:solidFill>
                  <a:srgbClr val="FFFFFF"/>
                </a:solidFill>
              </a:rPr>
              <a:t>Vigilance Decrement</a:t>
            </a:r>
          </a:p>
        </p:txBody>
      </p:sp>
      <p:pic>
        <p:nvPicPr>
          <p:cNvPr id="5" name="Content Placeholder 4" descr="A close up of a map&#10;&#10;Description generated with very high confidence">
            <a:extLst>
              <a:ext uri="{FF2B5EF4-FFF2-40B4-BE49-F238E27FC236}">
                <a16:creationId xmlns:a16="http://schemas.microsoft.com/office/drawing/2014/main" id="{8E072932-05EA-4177-BB22-5B271823C1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4434" y="2426818"/>
            <a:ext cx="5330182" cy="3997637"/>
          </a:xfrm>
          <a:prstGeom prst="rect">
            <a:avLst/>
          </a:prstGeom>
        </p:spPr>
      </p:pic>
      <p:pic>
        <p:nvPicPr>
          <p:cNvPr id="7" name="Picture 6" descr="A picture containing indoor, person&#10;&#10;Description generated with very high confidence">
            <a:extLst>
              <a:ext uri="{FF2B5EF4-FFF2-40B4-BE49-F238E27FC236}">
                <a16:creationId xmlns:a16="http://schemas.microsoft.com/office/drawing/2014/main" id="{C48BC8FB-440C-441F-A2A5-CB21720305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5073" y="2891160"/>
            <a:ext cx="5455917" cy="3068953"/>
          </a:xfrm>
          <a:prstGeom prst="rect">
            <a:avLst/>
          </a:prstGeom>
        </p:spPr>
      </p:pic>
    </p:spTree>
    <p:extLst>
      <p:ext uri="{BB962C8B-B14F-4D97-AF65-F5344CB8AC3E}">
        <p14:creationId xmlns:p14="http://schemas.microsoft.com/office/powerpoint/2010/main" val="26891316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846D-DC00-4C6D-B784-1369AECA08D6}"/>
              </a:ext>
            </a:extLst>
          </p:cNvPr>
          <p:cNvSpPr>
            <a:spLocks noGrp="1"/>
          </p:cNvSpPr>
          <p:nvPr>
            <p:ph type="title"/>
          </p:nvPr>
        </p:nvSpPr>
        <p:spPr>
          <a:xfrm>
            <a:off x="674237" y="914400"/>
            <a:ext cx="3657600" cy="2887579"/>
          </a:xfrm>
        </p:spPr>
        <p:txBody>
          <a:bodyPr vert="horz" lIns="91440" tIns="45720" rIns="91440" bIns="45720" rtlCol="0" anchor="b">
            <a:normAutofit fontScale="90000"/>
          </a:bodyPr>
          <a:lstStyle/>
          <a:p>
            <a:pPr algn="ctr"/>
            <a:r>
              <a:rPr lang="en-US" sz="4800" kern="1200" dirty="0">
                <a:solidFill>
                  <a:srgbClr val="FFFFFF"/>
                </a:solidFill>
                <a:latin typeface="+mj-lt"/>
                <a:ea typeface="+mj-ea"/>
                <a:cs typeface="+mj-cs"/>
              </a:rPr>
              <a:t>James Reason’s </a:t>
            </a:r>
            <a:r>
              <a:rPr lang="en-US" sz="4800" b="1" kern="1200" dirty="0">
                <a:solidFill>
                  <a:srgbClr val="FFFFFF"/>
                </a:solidFill>
                <a:latin typeface="+mj-lt"/>
                <a:ea typeface="+mj-ea"/>
                <a:cs typeface="+mj-cs"/>
              </a:rPr>
              <a:t>Swiss cheese model</a:t>
            </a:r>
            <a:endParaRPr lang="en-US" sz="4800" kern="1200" dirty="0">
              <a:solidFill>
                <a:srgbClr val="FFFFFF"/>
              </a:solidFill>
              <a:latin typeface="+mj-lt"/>
              <a:ea typeface="+mj-ea"/>
              <a:cs typeface="+mj-cs"/>
            </a:endParaRPr>
          </a:p>
        </p:txBody>
      </p:sp>
      <p:pic>
        <p:nvPicPr>
          <p:cNvPr id="5" name="Content Placeholder 4" descr="A close up of text on a white background&#10;&#10;Description generated with high confidence">
            <a:extLst>
              <a:ext uri="{FF2B5EF4-FFF2-40B4-BE49-F238E27FC236}">
                <a16:creationId xmlns:a16="http://schemas.microsoft.com/office/drawing/2014/main" id="{84E3ED16-0415-4282-AC26-48869FBA36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72132" y="321178"/>
            <a:ext cx="3990008" cy="2683280"/>
          </a:xfrm>
          <a:prstGeom prst="rect">
            <a:avLst/>
          </a:prstGeom>
        </p:spPr>
      </p:pic>
      <p:pic>
        <p:nvPicPr>
          <p:cNvPr id="6" name="Picture 5" descr="A screenshot of a cell phone&#10;&#10;Description generated with very high confidence">
            <a:extLst>
              <a:ext uri="{FF2B5EF4-FFF2-40B4-BE49-F238E27FC236}">
                <a16:creationId xmlns:a16="http://schemas.microsoft.com/office/drawing/2014/main" id="{854884E2-177B-41C6-9FB8-F49A49EC66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6079" y="3237722"/>
            <a:ext cx="3394620" cy="3299101"/>
          </a:xfrm>
          <a:prstGeom prst="rect">
            <a:avLst/>
          </a:prstGeom>
        </p:spPr>
      </p:pic>
      <p:pic>
        <p:nvPicPr>
          <p:cNvPr id="8" name="Picture 7" descr="A close up of a sign&#10;&#10;Description generated with high confidence">
            <a:extLst>
              <a:ext uri="{FF2B5EF4-FFF2-40B4-BE49-F238E27FC236}">
                <a16:creationId xmlns:a16="http://schemas.microsoft.com/office/drawing/2014/main" id="{38254194-D91B-4DD1-941F-C72F24462A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2274" y="3622974"/>
            <a:ext cx="3366935" cy="2528596"/>
          </a:xfrm>
          <a:prstGeom prst="rect">
            <a:avLst/>
          </a:prstGeom>
        </p:spPr>
      </p:pic>
    </p:spTree>
    <p:extLst>
      <p:ext uri="{BB962C8B-B14F-4D97-AF65-F5344CB8AC3E}">
        <p14:creationId xmlns:p14="http://schemas.microsoft.com/office/powerpoint/2010/main" val="3772395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8E938-869E-400A-81F4-3651DCCD6109}"/>
              </a:ext>
            </a:extLst>
          </p:cNvPr>
          <p:cNvSpPr>
            <a:spLocks noGrp="1"/>
          </p:cNvSpPr>
          <p:nvPr>
            <p:ph type="title"/>
          </p:nvPr>
        </p:nvSpPr>
        <p:spPr>
          <a:xfrm>
            <a:off x="4384039" y="365125"/>
            <a:ext cx="7164493" cy="1325563"/>
          </a:xfrm>
        </p:spPr>
        <p:txBody>
          <a:bodyPr>
            <a:normAutofit/>
          </a:bodyPr>
          <a:lstStyle/>
          <a:p>
            <a:r>
              <a:rPr lang="en-US" dirty="0"/>
              <a:t>Aesthetic Usability Effect</a:t>
            </a:r>
          </a:p>
        </p:txBody>
      </p:sp>
      <p:pic>
        <p:nvPicPr>
          <p:cNvPr id="4" name="Picture 3" descr="A close up of a sign&#10;&#10;Description generated with very high confidence">
            <a:extLst>
              <a:ext uri="{FF2B5EF4-FFF2-40B4-BE49-F238E27FC236}">
                <a16:creationId xmlns:a16="http://schemas.microsoft.com/office/drawing/2014/main" id="{C246BC53-BD77-4E35-ADCF-7EDB5774F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 y="793408"/>
            <a:ext cx="3425957" cy="5270703"/>
          </a:xfrm>
          <a:prstGeom prst="rect">
            <a:avLst/>
          </a:prstGeom>
        </p:spPr>
      </p:pic>
      <p:sp>
        <p:nvSpPr>
          <p:cNvPr id="3" name="Content Placeholder 2">
            <a:extLst>
              <a:ext uri="{FF2B5EF4-FFF2-40B4-BE49-F238E27FC236}">
                <a16:creationId xmlns:a16="http://schemas.microsoft.com/office/drawing/2014/main" id="{31C3A322-2076-436F-A970-08C11B310529}"/>
              </a:ext>
            </a:extLst>
          </p:cNvPr>
          <p:cNvSpPr>
            <a:spLocks noGrp="1"/>
          </p:cNvSpPr>
          <p:nvPr>
            <p:ph idx="1"/>
          </p:nvPr>
        </p:nvSpPr>
        <p:spPr>
          <a:xfrm>
            <a:off x="4387515" y="2022601"/>
            <a:ext cx="7161017" cy="4154361"/>
          </a:xfrm>
        </p:spPr>
        <p:txBody>
          <a:bodyPr>
            <a:normAutofit/>
          </a:bodyPr>
          <a:lstStyle/>
          <a:p>
            <a:r>
              <a:rPr lang="en-US" sz="2000"/>
              <a:t>Masaaki Kurosu and Kaori Kashimura (1995) found ATM interfaces with high aesthetic appeal were also rated as performing better</a:t>
            </a:r>
          </a:p>
        </p:txBody>
      </p:sp>
    </p:spTree>
    <p:extLst>
      <p:ext uri="{BB962C8B-B14F-4D97-AF65-F5344CB8AC3E}">
        <p14:creationId xmlns:p14="http://schemas.microsoft.com/office/powerpoint/2010/main" val="33242258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9DDA-BF3A-4607-BB31-322ACF3B0DC5}"/>
              </a:ext>
            </a:extLst>
          </p:cNvPr>
          <p:cNvSpPr>
            <a:spLocks noGrp="1"/>
          </p:cNvSpPr>
          <p:nvPr>
            <p:ph type="ctrTitle"/>
          </p:nvPr>
        </p:nvSpPr>
        <p:spPr>
          <a:xfrm>
            <a:off x="3045368" y="2043663"/>
            <a:ext cx="6105194" cy="2031055"/>
          </a:xfrm>
        </p:spPr>
        <p:txBody>
          <a:bodyPr>
            <a:normAutofit/>
          </a:bodyPr>
          <a:lstStyle/>
          <a:p>
            <a:r>
              <a:rPr lang="en-US" dirty="0">
                <a:solidFill>
                  <a:srgbClr val="FFFFFF"/>
                </a:solidFill>
              </a:rPr>
              <a:t>Displaying Information</a:t>
            </a:r>
          </a:p>
        </p:txBody>
      </p:sp>
      <p:sp>
        <p:nvSpPr>
          <p:cNvPr id="3" name="Subtitle 2">
            <a:extLst>
              <a:ext uri="{FF2B5EF4-FFF2-40B4-BE49-F238E27FC236}">
                <a16:creationId xmlns:a16="http://schemas.microsoft.com/office/drawing/2014/main" id="{E5E43028-7A00-42B3-BAC9-BD9638AD0956}"/>
              </a:ext>
            </a:extLst>
          </p:cNvPr>
          <p:cNvSpPr>
            <a:spLocks noGrp="1"/>
          </p:cNvSpPr>
          <p:nvPr>
            <p:ph type="subTitle" idx="1"/>
          </p:nvPr>
        </p:nvSpPr>
        <p:spPr>
          <a:xfrm>
            <a:off x="3045368" y="4074718"/>
            <a:ext cx="6105194" cy="682079"/>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36587181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Title 3"/>
          <p:cNvSpPr>
            <a:spLocks noGrp="1"/>
          </p:cNvSpPr>
          <p:nvPr>
            <p:ph type="title"/>
          </p:nvPr>
        </p:nvSpPr>
        <p:spPr/>
        <p:txBody>
          <a:bodyPr/>
          <a:lstStyle/>
          <a:p>
            <a:r>
              <a:rPr lang="en-US" dirty="0"/>
              <a:t>Data vs. Information</a:t>
            </a:r>
            <a:endParaRPr lang="en-US" i="1" dirty="0"/>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0138" t="22804" r="15689" b="14483"/>
          <a:stretch/>
        </p:blipFill>
        <p:spPr bwMode="auto">
          <a:xfrm>
            <a:off x="565681" y="1495899"/>
            <a:ext cx="11274564" cy="5362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59381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Task Taxonomies</a:t>
            </a:r>
          </a:p>
        </p:txBody>
      </p:sp>
      <p:sp>
        <p:nvSpPr>
          <p:cNvPr id="3" name="Content Placeholder 2"/>
          <p:cNvSpPr>
            <a:spLocks noGrp="1"/>
          </p:cNvSpPr>
          <p:nvPr>
            <p:ph idx="1"/>
          </p:nvPr>
        </p:nvSpPr>
        <p:spPr>
          <a:xfrm>
            <a:off x="609600" y="1636767"/>
            <a:ext cx="10972800" cy="5082808"/>
          </a:xfrm>
        </p:spPr>
        <p:txBody>
          <a:bodyPr>
            <a:normAutofit/>
          </a:bodyPr>
          <a:lstStyle/>
          <a:p>
            <a:r>
              <a:rPr lang="en-US" dirty="0"/>
              <a:t>Point reading</a:t>
            </a:r>
          </a:p>
          <a:p>
            <a:pPr lvl="1"/>
            <a:r>
              <a:rPr lang="en-US" dirty="0"/>
              <a:t>Observer estimates the value of a single graph element</a:t>
            </a:r>
          </a:p>
          <a:p>
            <a:pPr lvl="1"/>
            <a:r>
              <a:rPr lang="en-US" i="1" dirty="0"/>
              <a:t>What was Factory A’s Production in 2010?</a:t>
            </a:r>
          </a:p>
          <a:p>
            <a:r>
              <a:rPr lang="en-US" dirty="0"/>
              <a:t>Local comparison</a:t>
            </a:r>
          </a:p>
          <a:p>
            <a:pPr lvl="1"/>
            <a:r>
              <a:rPr lang="en-US" i="1" dirty="0"/>
              <a:t>The observer compares two values directly shown in the graph</a:t>
            </a:r>
          </a:p>
          <a:p>
            <a:pPr lvl="1"/>
            <a:r>
              <a:rPr lang="en-US" i="1" dirty="0"/>
              <a:t>Was Factory B’s Production greater in 2012 or 2011?</a:t>
            </a:r>
          </a:p>
        </p:txBody>
      </p:sp>
    </p:spTree>
    <p:extLst>
      <p:ext uri="{BB962C8B-B14F-4D97-AF65-F5344CB8AC3E}">
        <p14:creationId xmlns:p14="http://schemas.microsoft.com/office/powerpoint/2010/main" val="32761366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Global comparison</a:t>
            </a:r>
          </a:p>
          <a:p>
            <a:pPr lvl="1"/>
            <a:r>
              <a:rPr lang="en-US" dirty="0"/>
              <a:t>Compares quantities that must be derived from other quantities</a:t>
            </a:r>
          </a:p>
          <a:p>
            <a:pPr lvl="1"/>
            <a:r>
              <a:rPr lang="en-US" i="1" dirty="0"/>
              <a:t>Was Factory B’s total production in 2010 and 2011 less than Factory A’s Production in those years?</a:t>
            </a:r>
          </a:p>
          <a:p>
            <a:r>
              <a:rPr lang="en-US" dirty="0"/>
              <a:t>Synthesis judgment</a:t>
            </a:r>
          </a:p>
          <a:p>
            <a:pPr lvl="1"/>
            <a:r>
              <a:rPr lang="en-US" dirty="0"/>
              <a:t>The observer needs to consider all data points and make a general, integrative judgment</a:t>
            </a:r>
          </a:p>
          <a:p>
            <a:pPr lvl="1"/>
            <a:r>
              <a:rPr lang="en-US" i="1" dirty="0"/>
              <a:t>What will Factory A’s production likely be in 2014? Is Factory A’s production increasing or decreasing?</a:t>
            </a:r>
          </a:p>
          <a:p>
            <a:endParaRPr lang="en-US" dirty="0"/>
          </a:p>
        </p:txBody>
      </p:sp>
    </p:spTree>
    <p:extLst>
      <p:ext uri="{BB962C8B-B14F-4D97-AF65-F5344CB8AC3E}">
        <p14:creationId xmlns:p14="http://schemas.microsoft.com/office/powerpoint/2010/main" val="13938993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How</a:t>
            </a:r>
          </a:p>
        </p:txBody>
      </p:sp>
      <p:sp>
        <p:nvSpPr>
          <p:cNvPr id="3" name="Content Placeholder 2"/>
          <p:cNvSpPr>
            <a:spLocks noGrp="1"/>
          </p:cNvSpPr>
          <p:nvPr>
            <p:ph idx="1"/>
          </p:nvPr>
        </p:nvSpPr>
        <p:spPr/>
        <p:txBody>
          <a:bodyPr>
            <a:normAutofit/>
          </a:bodyPr>
          <a:lstStyle/>
          <a:p>
            <a:pPr marL="844275" indent="-685783">
              <a:buFont typeface="+mj-lt"/>
              <a:buAutoNum type="arabicPeriod"/>
            </a:pPr>
            <a:r>
              <a:rPr lang="en-US" i="1" dirty="0"/>
              <a:t>Use physical dimensions judged without bias</a:t>
            </a:r>
            <a:r>
              <a:rPr lang="en-US" dirty="0"/>
              <a:t>. Avoid illusions that might bias how the graphs are interpreted</a:t>
            </a:r>
          </a:p>
          <a:p>
            <a:pPr marL="1234409" lvl="1" indent="-685783"/>
            <a:r>
              <a:rPr lang="en-US" dirty="0"/>
              <a:t>Using length is better than area or volume. Why?</a:t>
            </a:r>
          </a:p>
          <a:p>
            <a:pPr marL="844275" indent="-685783">
              <a:buFont typeface="+mj-lt"/>
              <a:buAutoNum type="arabicPeriod"/>
            </a:pPr>
            <a:r>
              <a:rPr lang="en-US" i="1" dirty="0"/>
              <a:t>Consider the task </a:t>
            </a:r>
          </a:p>
          <a:p>
            <a:pPr marL="1234409" lvl="1" indent="-685783"/>
            <a:r>
              <a:rPr lang="en-US" dirty="0"/>
              <a:t>Graphical form should support task demands</a:t>
            </a:r>
          </a:p>
          <a:p>
            <a:pPr marL="844275" indent="-685783">
              <a:buFont typeface="+mj-lt"/>
              <a:buAutoNum type="arabicPeriod"/>
            </a:pPr>
            <a:r>
              <a:rPr lang="en-US" i="1" dirty="0"/>
              <a:t>Minimize the number of mental operations</a:t>
            </a:r>
          </a:p>
          <a:p>
            <a:pPr lvl="1"/>
            <a:r>
              <a:rPr lang="en-US" dirty="0"/>
              <a:t>Graph the relevant data, organize it in a logical fashion </a:t>
            </a:r>
          </a:p>
        </p:txBody>
      </p:sp>
    </p:spTree>
    <p:extLst>
      <p:ext uri="{BB962C8B-B14F-4D97-AF65-F5344CB8AC3E}">
        <p14:creationId xmlns:p14="http://schemas.microsoft.com/office/powerpoint/2010/main" val="32829658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844275" indent="-685783">
              <a:buFont typeface="+mj-lt"/>
              <a:buAutoNum type="arabicPeriod" startAt="4"/>
            </a:pPr>
            <a:r>
              <a:rPr lang="en-US" i="1" dirty="0"/>
              <a:t>Keep the data-ink ratio high</a:t>
            </a:r>
            <a:r>
              <a:rPr lang="en-US" dirty="0"/>
              <a:t> (</a:t>
            </a:r>
            <a:r>
              <a:rPr lang="en-US" dirty="0" err="1"/>
              <a:t>Tufte</a:t>
            </a:r>
            <a:r>
              <a:rPr lang="en-US" dirty="0"/>
              <a:t>, 1983)</a:t>
            </a:r>
          </a:p>
          <a:p>
            <a:pPr marL="1234409" lvl="1" indent="-685783"/>
            <a:r>
              <a:rPr lang="en-US" dirty="0"/>
              <a:t>Actual data represented relative to the amount of ink it takes to represent it </a:t>
            </a:r>
          </a:p>
          <a:p>
            <a:pPr marL="844275" indent="-685783">
              <a:buFont typeface="+mj-lt"/>
              <a:buAutoNum type="arabicPeriod" startAt="5"/>
            </a:pPr>
            <a:r>
              <a:rPr lang="en-US" i="1" dirty="0"/>
              <a:t>Code Multiple graphs consistently</a:t>
            </a:r>
          </a:p>
          <a:p>
            <a:pPr marL="1234409" lvl="1" indent="-685783"/>
            <a:r>
              <a:rPr lang="en-US" dirty="0"/>
              <a:t>Represent conditions consistently, use consistent units, maintain consistent axis ranges when possible</a:t>
            </a:r>
          </a:p>
        </p:txBody>
      </p:sp>
    </p:spTree>
    <p:extLst>
      <p:ext uri="{BB962C8B-B14F-4D97-AF65-F5344CB8AC3E}">
        <p14:creationId xmlns:p14="http://schemas.microsoft.com/office/powerpoint/2010/main" val="41425304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46111-E5BA-4659-AC7D-94ADE02B3F49}"/>
              </a:ext>
            </a:extLst>
          </p:cNvPr>
          <p:cNvSpPr>
            <a:spLocks noGrp="1"/>
          </p:cNvSpPr>
          <p:nvPr>
            <p:ph type="title"/>
          </p:nvPr>
        </p:nvSpPr>
        <p:spPr>
          <a:xfrm>
            <a:off x="2414458" y="487047"/>
            <a:ext cx="10515600" cy="1325563"/>
          </a:xfrm>
        </p:spPr>
        <p:txBody>
          <a:bodyPr>
            <a:normAutofit fontScale="90000"/>
          </a:bodyPr>
          <a:lstStyle/>
          <a:p>
            <a:r>
              <a:rPr lang="en-US" dirty="0"/>
              <a:t>                                   Data Ink</a:t>
            </a:r>
            <a:br>
              <a:rPr lang="en-US" dirty="0"/>
            </a:br>
            <a:r>
              <a:rPr lang="en-US" dirty="0"/>
              <a:t>Data to Ink Ratio =</a:t>
            </a:r>
            <a:br>
              <a:rPr lang="en-US" dirty="0"/>
            </a:br>
            <a:r>
              <a:rPr lang="en-US" dirty="0"/>
              <a:t>                                   Total Ink</a:t>
            </a:r>
          </a:p>
        </p:txBody>
      </p:sp>
      <p:pic>
        <p:nvPicPr>
          <p:cNvPr id="5" name="Content Placeholder 4" descr="A screenshot of a cell phone&#10;&#10;Description generated with very high confidence">
            <a:extLst>
              <a:ext uri="{FF2B5EF4-FFF2-40B4-BE49-F238E27FC236}">
                <a16:creationId xmlns:a16="http://schemas.microsoft.com/office/drawing/2014/main" id="{F90D44EA-B1DC-4B39-9716-8929744FC6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1921" y="2661917"/>
            <a:ext cx="10928158" cy="2301968"/>
          </a:xfrm>
        </p:spPr>
      </p:pic>
      <p:cxnSp>
        <p:nvCxnSpPr>
          <p:cNvPr id="7" name="Straight Connector 6">
            <a:extLst>
              <a:ext uri="{FF2B5EF4-FFF2-40B4-BE49-F238E27FC236}">
                <a16:creationId xmlns:a16="http://schemas.microsoft.com/office/drawing/2014/main" id="{3ED7E857-CDFB-4FB1-B582-81A760D93324}"/>
              </a:ext>
            </a:extLst>
          </p:cNvPr>
          <p:cNvCxnSpPr/>
          <p:nvPr/>
        </p:nvCxnSpPr>
        <p:spPr>
          <a:xfrm>
            <a:off x="6399501" y="1177836"/>
            <a:ext cx="1856232"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233AA99E-0147-4C48-903E-6078BC10B0BE}"/>
              </a:ext>
            </a:extLst>
          </p:cNvPr>
          <p:cNvSpPr/>
          <p:nvPr/>
        </p:nvSpPr>
        <p:spPr>
          <a:xfrm>
            <a:off x="621482" y="5499854"/>
            <a:ext cx="5904950" cy="369332"/>
          </a:xfrm>
          <a:prstGeom prst="rect">
            <a:avLst/>
          </a:prstGeom>
        </p:spPr>
        <p:txBody>
          <a:bodyPr wrap="none">
            <a:spAutoFit/>
          </a:bodyPr>
          <a:lstStyle/>
          <a:p>
            <a:r>
              <a:rPr lang="en-US" dirty="0"/>
              <a:t>https://hub.packtpub.com/dashboard-design-best-practices/</a:t>
            </a:r>
          </a:p>
        </p:txBody>
      </p:sp>
    </p:spTree>
    <p:extLst>
      <p:ext uri="{BB962C8B-B14F-4D97-AF65-F5344CB8AC3E}">
        <p14:creationId xmlns:p14="http://schemas.microsoft.com/office/powerpoint/2010/main" val="20740954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7BE9-9940-4473-AAC0-627C0FFE0463}"/>
              </a:ext>
            </a:extLst>
          </p:cNvPr>
          <p:cNvSpPr>
            <a:spLocks noGrp="1"/>
          </p:cNvSpPr>
          <p:nvPr>
            <p:ph type="title"/>
          </p:nvPr>
        </p:nvSpPr>
        <p:spPr>
          <a:xfrm>
            <a:off x="0" y="18255"/>
            <a:ext cx="12192000" cy="1325563"/>
          </a:xfrm>
        </p:spPr>
        <p:txBody>
          <a:bodyPr/>
          <a:lstStyle/>
          <a:p>
            <a:pPr algn="ctr"/>
            <a:endParaRPr lang="en-US" dirty="0"/>
          </a:p>
        </p:txBody>
      </p:sp>
      <p:sp>
        <p:nvSpPr>
          <p:cNvPr id="3" name="Content Placeholder 2">
            <a:extLst>
              <a:ext uri="{FF2B5EF4-FFF2-40B4-BE49-F238E27FC236}">
                <a16:creationId xmlns:a16="http://schemas.microsoft.com/office/drawing/2014/main" id="{17CA2C5F-E117-419B-9ED8-B50969D60323}"/>
              </a:ext>
            </a:extLst>
          </p:cNvPr>
          <p:cNvSpPr>
            <a:spLocks noGrp="1"/>
          </p:cNvSpPr>
          <p:nvPr>
            <p:ph idx="1"/>
          </p:nvPr>
        </p:nvSpPr>
        <p:spPr>
          <a:xfrm>
            <a:off x="838200" y="1825625"/>
            <a:ext cx="10515600" cy="4351338"/>
          </a:xfrm>
        </p:spPr>
        <p:txBody>
          <a:bodyPr/>
          <a:lstStyle/>
          <a:p>
            <a:endParaRPr lang="en-US" dirty="0"/>
          </a:p>
        </p:txBody>
      </p:sp>
      <p:pic>
        <p:nvPicPr>
          <p:cNvPr id="1026" name="Picture 2" descr="http://pages.vassar.edu/acs/files/2011/06/GWM2010.png">
            <a:extLst>
              <a:ext uri="{FF2B5EF4-FFF2-40B4-BE49-F238E27FC236}">
                <a16:creationId xmlns:a16="http://schemas.microsoft.com/office/drawing/2014/main" id="{49AA61DC-B24D-4300-8091-0CCA60631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1674" y="172938"/>
            <a:ext cx="9561566" cy="6762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2907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5AC8D-32D0-4D19-98DA-DF48FEA6D78C}"/>
              </a:ext>
            </a:extLst>
          </p:cNvPr>
          <p:cNvSpPr>
            <a:spLocks noGrp="1"/>
          </p:cNvSpPr>
          <p:nvPr>
            <p:ph type="title"/>
          </p:nvPr>
        </p:nvSpPr>
        <p:spPr/>
        <p:txBody>
          <a:bodyPr/>
          <a:lstStyle/>
          <a:p>
            <a:r>
              <a:rPr lang="en-US" dirty="0"/>
              <a:t>Tip: Provide Context to Data</a:t>
            </a:r>
          </a:p>
        </p:txBody>
      </p:sp>
      <p:pic>
        <p:nvPicPr>
          <p:cNvPr id="5" name="Content Placeholder 4" descr="A screenshot of a cell phone&#10;&#10;Description generated with very high confidence">
            <a:extLst>
              <a:ext uri="{FF2B5EF4-FFF2-40B4-BE49-F238E27FC236}">
                <a16:creationId xmlns:a16="http://schemas.microsoft.com/office/drawing/2014/main" id="{CF24F403-A84D-461F-9389-A71E6C3C7B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3143" y="3120341"/>
            <a:ext cx="4885714" cy="1761905"/>
          </a:xfrm>
        </p:spPr>
      </p:pic>
    </p:spTree>
    <p:extLst>
      <p:ext uri="{BB962C8B-B14F-4D97-AF65-F5344CB8AC3E}">
        <p14:creationId xmlns:p14="http://schemas.microsoft.com/office/powerpoint/2010/main" val="27492266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6400" y="-25400"/>
            <a:ext cx="13817600" cy="18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Content Placeholder 2"/>
          <p:cNvSpPr>
            <a:spLocks noGrp="1"/>
          </p:cNvSpPr>
          <p:nvPr>
            <p:ph idx="1"/>
          </p:nvPr>
        </p:nvSpPr>
        <p:spPr>
          <a:xfrm>
            <a:off x="508000" y="327392"/>
            <a:ext cx="10972800" cy="4625609"/>
          </a:xfrm>
        </p:spPr>
        <p:txBody>
          <a:bodyPr>
            <a:normAutofit/>
          </a:bodyPr>
          <a:lstStyle/>
          <a:p>
            <a:pPr marL="0" indent="0">
              <a:buNone/>
            </a:pPr>
            <a:r>
              <a:rPr lang="en-US" sz="4000" dirty="0"/>
              <a:t>Tip: Redundant Coding</a:t>
            </a:r>
          </a:p>
        </p:txBody>
      </p:sp>
      <p:sp>
        <p:nvSpPr>
          <p:cNvPr id="5" name="TextBox 4"/>
          <p:cNvSpPr txBox="1"/>
          <p:nvPr/>
        </p:nvSpPr>
        <p:spPr>
          <a:xfrm>
            <a:off x="914400" y="2311400"/>
            <a:ext cx="1451038" cy="3539046"/>
          </a:xfrm>
          <a:prstGeom prst="rect">
            <a:avLst/>
          </a:prstGeom>
          <a:noFill/>
        </p:spPr>
        <p:txBody>
          <a:bodyPr wrap="none" rtlCol="0">
            <a:spAutoFit/>
          </a:bodyPr>
          <a:lstStyle/>
          <a:p>
            <a:r>
              <a:rPr lang="en-US" sz="3733" dirty="0">
                <a:solidFill>
                  <a:srgbClr val="FF0000"/>
                </a:solidFill>
              </a:rPr>
              <a:t>Red</a:t>
            </a:r>
          </a:p>
          <a:p>
            <a:r>
              <a:rPr lang="en-US" sz="3733" dirty="0">
                <a:solidFill>
                  <a:srgbClr val="0070C0"/>
                </a:solidFill>
              </a:rPr>
              <a:t>Blue</a:t>
            </a:r>
          </a:p>
          <a:p>
            <a:r>
              <a:rPr lang="en-US" sz="3733" dirty="0"/>
              <a:t>Black</a:t>
            </a:r>
          </a:p>
          <a:p>
            <a:r>
              <a:rPr lang="en-US" sz="3733" dirty="0">
                <a:solidFill>
                  <a:srgbClr val="33CC33"/>
                </a:solidFill>
              </a:rPr>
              <a:t>Green</a:t>
            </a:r>
          </a:p>
          <a:p>
            <a:r>
              <a:rPr lang="en-US" sz="3733" dirty="0">
                <a:solidFill>
                  <a:srgbClr val="CC0066"/>
                </a:solidFill>
              </a:rPr>
              <a:t>Purple</a:t>
            </a:r>
          </a:p>
          <a:p>
            <a:r>
              <a:rPr lang="en-US" sz="3733" dirty="0">
                <a:solidFill>
                  <a:srgbClr val="FFFF00"/>
                </a:solidFill>
              </a:rPr>
              <a:t>Yellow</a:t>
            </a:r>
          </a:p>
        </p:txBody>
      </p:sp>
      <p:sp>
        <p:nvSpPr>
          <p:cNvPr id="6" name="TextBox 5"/>
          <p:cNvSpPr txBox="1"/>
          <p:nvPr/>
        </p:nvSpPr>
        <p:spPr>
          <a:xfrm>
            <a:off x="4799900" y="2311400"/>
            <a:ext cx="1178528" cy="3539046"/>
          </a:xfrm>
          <a:prstGeom prst="rect">
            <a:avLst/>
          </a:prstGeom>
          <a:noFill/>
        </p:spPr>
        <p:txBody>
          <a:bodyPr wrap="none" rtlCol="0">
            <a:spAutoFit/>
          </a:bodyPr>
          <a:lstStyle/>
          <a:p>
            <a:r>
              <a:rPr lang="en-US" sz="3733" dirty="0">
                <a:solidFill>
                  <a:srgbClr val="FF0000"/>
                </a:solidFill>
              </a:rPr>
              <a:t>XXXX</a:t>
            </a:r>
          </a:p>
          <a:p>
            <a:r>
              <a:rPr lang="en-US" sz="3733" dirty="0">
                <a:solidFill>
                  <a:srgbClr val="0070C0"/>
                </a:solidFill>
              </a:rPr>
              <a:t>XXXX</a:t>
            </a:r>
          </a:p>
          <a:p>
            <a:r>
              <a:rPr lang="en-US" sz="3733" dirty="0"/>
              <a:t>XXXX</a:t>
            </a:r>
          </a:p>
          <a:p>
            <a:r>
              <a:rPr lang="en-US" sz="3733" dirty="0">
                <a:solidFill>
                  <a:srgbClr val="33CC33"/>
                </a:solidFill>
              </a:rPr>
              <a:t>XXXX</a:t>
            </a:r>
          </a:p>
          <a:p>
            <a:r>
              <a:rPr lang="en-US" sz="3733" dirty="0">
                <a:solidFill>
                  <a:srgbClr val="CC0066"/>
                </a:solidFill>
              </a:rPr>
              <a:t>XXXX</a:t>
            </a:r>
          </a:p>
          <a:p>
            <a:r>
              <a:rPr lang="en-US" sz="3733" dirty="0">
                <a:solidFill>
                  <a:srgbClr val="FFFF00"/>
                </a:solidFill>
              </a:rPr>
              <a:t>XXXX</a:t>
            </a:r>
          </a:p>
        </p:txBody>
      </p:sp>
      <p:sp>
        <p:nvSpPr>
          <p:cNvPr id="7" name="TextBox 6"/>
          <p:cNvSpPr txBox="1"/>
          <p:nvPr/>
        </p:nvSpPr>
        <p:spPr>
          <a:xfrm>
            <a:off x="8511652" y="2311400"/>
            <a:ext cx="1451038" cy="3539046"/>
          </a:xfrm>
          <a:prstGeom prst="rect">
            <a:avLst/>
          </a:prstGeom>
          <a:noFill/>
        </p:spPr>
        <p:txBody>
          <a:bodyPr wrap="none" rtlCol="0">
            <a:spAutoFit/>
          </a:bodyPr>
          <a:lstStyle/>
          <a:p>
            <a:r>
              <a:rPr lang="en-US" sz="3733" dirty="0">
                <a:solidFill>
                  <a:srgbClr val="FF0000"/>
                </a:solidFill>
              </a:rPr>
              <a:t>Blue</a:t>
            </a:r>
          </a:p>
          <a:p>
            <a:r>
              <a:rPr lang="en-US" sz="3733" dirty="0">
                <a:solidFill>
                  <a:srgbClr val="0070C0"/>
                </a:solidFill>
              </a:rPr>
              <a:t>Purple</a:t>
            </a:r>
          </a:p>
          <a:p>
            <a:r>
              <a:rPr lang="en-US" sz="3733" dirty="0"/>
              <a:t>Green</a:t>
            </a:r>
          </a:p>
          <a:p>
            <a:r>
              <a:rPr lang="en-US" sz="3733" dirty="0">
                <a:solidFill>
                  <a:srgbClr val="33CC33"/>
                </a:solidFill>
              </a:rPr>
              <a:t>Red</a:t>
            </a:r>
          </a:p>
          <a:p>
            <a:r>
              <a:rPr lang="en-US" sz="3733" dirty="0">
                <a:solidFill>
                  <a:srgbClr val="CC0066"/>
                </a:solidFill>
              </a:rPr>
              <a:t>Yellow</a:t>
            </a:r>
          </a:p>
          <a:p>
            <a:r>
              <a:rPr lang="en-US" sz="3733" dirty="0">
                <a:solidFill>
                  <a:srgbClr val="FFFF00"/>
                </a:solidFill>
              </a:rPr>
              <a:t>Black</a:t>
            </a:r>
          </a:p>
        </p:txBody>
      </p:sp>
      <p:sp>
        <p:nvSpPr>
          <p:cNvPr id="8" name="TextBox 7"/>
          <p:cNvSpPr txBox="1"/>
          <p:nvPr/>
        </p:nvSpPr>
        <p:spPr>
          <a:xfrm>
            <a:off x="962549" y="1701801"/>
            <a:ext cx="2017091" cy="584775"/>
          </a:xfrm>
          <a:prstGeom prst="rect">
            <a:avLst/>
          </a:prstGeom>
          <a:noFill/>
        </p:spPr>
        <p:txBody>
          <a:bodyPr wrap="none" rtlCol="0">
            <a:spAutoFit/>
          </a:bodyPr>
          <a:lstStyle/>
          <a:p>
            <a:r>
              <a:rPr lang="en-US" sz="3200" u="sng" dirty="0"/>
              <a:t>Redundant</a:t>
            </a:r>
          </a:p>
        </p:txBody>
      </p:sp>
      <p:sp>
        <p:nvSpPr>
          <p:cNvPr id="9" name="TextBox 8"/>
          <p:cNvSpPr txBox="1"/>
          <p:nvPr/>
        </p:nvSpPr>
        <p:spPr>
          <a:xfrm>
            <a:off x="4794034" y="1701801"/>
            <a:ext cx="1433021" cy="584775"/>
          </a:xfrm>
          <a:prstGeom prst="rect">
            <a:avLst/>
          </a:prstGeom>
          <a:noFill/>
        </p:spPr>
        <p:txBody>
          <a:bodyPr wrap="none" rtlCol="0">
            <a:spAutoFit/>
          </a:bodyPr>
          <a:lstStyle/>
          <a:p>
            <a:r>
              <a:rPr lang="en-US" sz="3200" u="sng" dirty="0"/>
              <a:t>Neutral</a:t>
            </a:r>
          </a:p>
        </p:txBody>
      </p:sp>
      <p:sp>
        <p:nvSpPr>
          <p:cNvPr id="10" name="TextBox 9"/>
          <p:cNvSpPr txBox="1"/>
          <p:nvPr/>
        </p:nvSpPr>
        <p:spPr>
          <a:xfrm>
            <a:off x="8531914" y="1701801"/>
            <a:ext cx="1964769" cy="584775"/>
          </a:xfrm>
          <a:prstGeom prst="rect">
            <a:avLst/>
          </a:prstGeom>
          <a:noFill/>
        </p:spPr>
        <p:txBody>
          <a:bodyPr wrap="none" rtlCol="0">
            <a:spAutoFit/>
          </a:bodyPr>
          <a:lstStyle/>
          <a:p>
            <a:r>
              <a:rPr lang="en-US" sz="3200" u="sng" dirty="0"/>
              <a:t>Conflicting</a:t>
            </a:r>
          </a:p>
        </p:txBody>
      </p:sp>
    </p:spTree>
    <p:extLst>
      <p:ext uri="{BB962C8B-B14F-4D97-AF65-F5344CB8AC3E}">
        <p14:creationId xmlns:p14="http://schemas.microsoft.com/office/powerpoint/2010/main" val="20302835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Information Capacity for Absolute Judgements</a:t>
            </a:r>
            <a:endParaRPr lang="en-US" dirty="0"/>
          </a:p>
        </p:txBody>
      </p:sp>
      <p:sp>
        <p:nvSpPr>
          <p:cNvPr id="4" name="Rectangle 3"/>
          <p:cNvSpPr/>
          <p:nvPr/>
        </p:nvSpPr>
        <p:spPr>
          <a:xfrm>
            <a:off x="7437364" y="1949657"/>
            <a:ext cx="3657600" cy="34544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6" name="Straight Connector 5"/>
          <p:cNvCxnSpPr/>
          <p:nvPr/>
        </p:nvCxnSpPr>
        <p:spPr>
          <a:xfrm flipV="1">
            <a:off x="7437364" y="1949657"/>
            <a:ext cx="3657600" cy="345440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p:cNvSpPr/>
              <p:nvPr/>
            </p:nvSpPr>
            <p:spPr>
              <a:xfrm>
                <a:off x="6651817" y="3430637"/>
                <a:ext cx="62837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𝐻</m:t>
                          </m:r>
                        </m:e>
                        <m:sub>
                          <m:r>
                            <a:rPr lang="en-US" sz="2400" i="1">
                              <a:latin typeface="Cambria Math"/>
                            </a:rPr>
                            <m:t>𝑇</m:t>
                          </m:r>
                        </m:sub>
                      </m:sSub>
                    </m:oMath>
                  </m:oMathPara>
                </a14:m>
                <a:endParaRPr lang="en-US" sz="2400" dirty="0"/>
              </a:p>
            </p:txBody>
          </p:sp>
        </mc:Choice>
        <mc:Fallback xmlns="">
          <p:sp>
            <p:nvSpPr>
              <p:cNvPr id="7" name="Rectangle 6"/>
              <p:cNvSpPr>
                <a:spLocks noRot="1" noChangeAspect="1" noMove="1" noResize="1" noEditPoints="1" noAdjustHandles="1" noChangeArrowheads="1" noChangeShapeType="1" noTextEdit="1"/>
              </p:cNvSpPr>
              <p:nvPr/>
            </p:nvSpPr>
            <p:spPr>
              <a:xfrm>
                <a:off x="6651817" y="3430637"/>
                <a:ext cx="628377"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942699" y="5404058"/>
                <a:ext cx="59176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𝐻</m:t>
                          </m:r>
                        </m:e>
                        <m:sub>
                          <m:r>
                            <a:rPr lang="en-US" sz="2400" i="1">
                              <a:latin typeface="Cambria Math"/>
                            </a:rPr>
                            <m:t>𝑆</m:t>
                          </m:r>
                        </m:sub>
                      </m:sSub>
                    </m:oMath>
                  </m:oMathPara>
                </a14:m>
                <a:endParaRPr lang="en-US" sz="2400" dirty="0"/>
              </a:p>
            </p:txBody>
          </p:sp>
        </mc:Choice>
        <mc:Fallback xmlns="">
          <p:sp>
            <p:nvSpPr>
              <p:cNvPr id="8" name="Rectangle 7"/>
              <p:cNvSpPr>
                <a:spLocks noRot="1" noChangeAspect="1" noMove="1" noResize="1" noEditPoints="1" noAdjustHandles="1" noChangeArrowheads="1" noChangeShapeType="1" noTextEdit="1"/>
              </p:cNvSpPr>
              <p:nvPr/>
            </p:nvSpPr>
            <p:spPr>
              <a:xfrm>
                <a:off x="8942699" y="5404058"/>
                <a:ext cx="591764" cy="461665"/>
              </a:xfrm>
              <a:prstGeom prst="rect">
                <a:avLst/>
              </a:prstGeom>
              <a:blipFill>
                <a:blip r:embed="rId4"/>
                <a:stretch>
                  <a:fillRect b="-1316"/>
                </a:stretch>
              </a:blipFill>
            </p:spPr>
            <p:txBody>
              <a:bodyPr/>
              <a:lstStyle/>
              <a:p>
                <a:r>
                  <a:rPr lang="en-US">
                    <a:noFill/>
                  </a:rPr>
                  <a:t> </a:t>
                </a:r>
              </a:p>
            </p:txBody>
          </p:sp>
        </mc:Fallback>
      </mc:AlternateContent>
      <p:sp>
        <p:nvSpPr>
          <p:cNvPr id="9" name="Arc 8"/>
          <p:cNvSpPr/>
          <p:nvPr/>
        </p:nvSpPr>
        <p:spPr>
          <a:xfrm flipH="1">
            <a:off x="6769520" y="4255744"/>
            <a:ext cx="7748853" cy="5298757"/>
          </a:xfrm>
          <a:prstGeom prst="arc">
            <a:avLst>
              <a:gd name="adj1" fmla="val 15731081"/>
              <a:gd name="adj2" fmla="val 2003388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10" name="Rectangle 9"/>
              <p:cNvSpPr/>
              <p:nvPr/>
            </p:nvSpPr>
            <p:spPr>
              <a:xfrm>
                <a:off x="10053654" y="3876088"/>
                <a:ext cx="984564" cy="3796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67">
                          <a:latin typeface="Cambria Math"/>
                        </a:rPr>
                        <m:t>Human</m:t>
                      </m:r>
                    </m:oMath>
                  </m:oMathPara>
                </a14:m>
                <a:endParaRPr lang="en-US" sz="1867" dirty="0"/>
              </a:p>
            </p:txBody>
          </p:sp>
        </mc:Choice>
        <mc:Fallback xmlns="">
          <p:sp>
            <p:nvSpPr>
              <p:cNvPr id="10" name="Rectangle 9"/>
              <p:cNvSpPr>
                <a:spLocks noRot="1" noChangeAspect="1" noMove="1" noResize="1" noEditPoints="1" noAdjustHandles="1" noChangeArrowheads="1" noChangeShapeType="1" noTextEdit="1"/>
              </p:cNvSpPr>
              <p:nvPr/>
            </p:nvSpPr>
            <p:spPr>
              <a:xfrm>
                <a:off x="10053654" y="3876088"/>
                <a:ext cx="984564" cy="37965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rot="18984120">
                <a:off x="8877924" y="2680390"/>
                <a:ext cx="1896673" cy="3796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1867">
                          <a:latin typeface="Cambria Math"/>
                        </a:rPr>
                        <m:t>Perfect</m:t>
                      </m:r>
                      <m:r>
                        <a:rPr lang="en-US" sz="1867">
                          <a:latin typeface="Cambria Math"/>
                        </a:rPr>
                        <m:t> </m:t>
                      </m:r>
                      <m:r>
                        <m:rPr>
                          <m:sty m:val="p"/>
                        </m:rPr>
                        <a:rPr lang="en-US" sz="1867">
                          <a:latin typeface="Cambria Math"/>
                        </a:rPr>
                        <m:t>Capacity</m:t>
                      </m:r>
                    </m:oMath>
                  </m:oMathPara>
                </a14:m>
                <a:endParaRPr lang="en-US" sz="1867" dirty="0"/>
              </a:p>
            </p:txBody>
          </p:sp>
        </mc:Choice>
        <mc:Fallback xmlns="">
          <p:sp>
            <p:nvSpPr>
              <p:cNvPr id="11" name="Rectangle 10"/>
              <p:cNvSpPr>
                <a:spLocks noRot="1" noChangeAspect="1" noMove="1" noResize="1" noEditPoints="1" noAdjustHandles="1" noChangeArrowheads="1" noChangeShapeType="1" noTextEdit="1"/>
              </p:cNvSpPr>
              <p:nvPr/>
            </p:nvSpPr>
            <p:spPr>
              <a:xfrm rot="18984120">
                <a:off x="8877924" y="2680390"/>
                <a:ext cx="1896673" cy="379656"/>
              </a:xfrm>
              <a:prstGeom prst="rect">
                <a:avLst/>
              </a:prstGeom>
              <a:blipFill>
                <a:blip r:embed="rId6"/>
                <a:stretch>
                  <a:fillRect r="-741"/>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DB1688BD-A47B-44B3-989C-4706AA5EF662}"/>
              </a:ext>
            </a:extLst>
          </p:cNvPr>
          <p:cNvSpPr/>
          <p:nvPr/>
        </p:nvSpPr>
        <p:spPr>
          <a:xfrm>
            <a:off x="1460865" y="3237961"/>
            <a:ext cx="2362200" cy="6096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938389E-34DD-4101-9C6F-222E50D09DB4}"/>
                  </a:ext>
                </a:extLst>
              </p:cNvPr>
              <p:cNvSpPr/>
              <p:nvPr/>
            </p:nvSpPr>
            <p:spPr>
              <a:xfrm>
                <a:off x="622665" y="3358095"/>
                <a:ext cx="48070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𝐻</m:t>
                          </m:r>
                        </m:e>
                        <m:sub>
                          <m:r>
                            <a:rPr lang="en-US" b="0" i="1" smtClean="0">
                              <a:latin typeface="Cambria Math"/>
                            </a:rPr>
                            <m:t>𝑆</m:t>
                          </m:r>
                        </m:sub>
                      </m:sSub>
                    </m:oMath>
                  </m:oMathPara>
                </a14:m>
                <a:endParaRPr lang="en-US" dirty="0"/>
              </a:p>
            </p:txBody>
          </p:sp>
        </mc:Choice>
        <mc:Fallback xmlns="">
          <p:sp>
            <p:nvSpPr>
              <p:cNvPr id="15" name="Rectangle 14">
                <a:extLst>
                  <a:ext uri="{FF2B5EF4-FFF2-40B4-BE49-F238E27FC236}">
                    <a16:creationId xmlns:a16="http://schemas.microsoft.com/office/drawing/2014/main" id="{7938389E-34DD-4101-9C6F-222E50D09DB4}"/>
                  </a:ext>
                </a:extLst>
              </p:cNvPr>
              <p:cNvSpPr>
                <a:spLocks noRot="1" noChangeAspect="1" noMove="1" noResize="1" noEditPoints="1" noAdjustHandles="1" noChangeArrowheads="1" noChangeShapeType="1" noTextEdit="1"/>
              </p:cNvSpPr>
              <p:nvPr/>
            </p:nvSpPr>
            <p:spPr>
              <a:xfrm>
                <a:off x="622665" y="3358095"/>
                <a:ext cx="48070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8920091-40E3-49F7-A296-D0A5A6A88B7C}"/>
                  </a:ext>
                </a:extLst>
              </p:cNvPr>
              <p:cNvSpPr/>
              <p:nvPr/>
            </p:nvSpPr>
            <p:spPr>
              <a:xfrm>
                <a:off x="2070465" y="3999961"/>
                <a:ext cx="72115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𝐻</m:t>
                          </m:r>
                        </m:e>
                        <m:sub>
                          <m:r>
                            <a:rPr lang="en-US" b="0" i="1" smtClean="0">
                              <a:latin typeface="Cambria Math"/>
                            </a:rPr>
                            <m:t>𝑙𝑜𝑠𝑠</m:t>
                          </m:r>
                        </m:sub>
                      </m:sSub>
                    </m:oMath>
                  </m:oMathPara>
                </a14:m>
                <a:endParaRPr lang="en-US" dirty="0"/>
              </a:p>
            </p:txBody>
          </p:sp>
        </mc:Choice>
        <mc:Fallback xmlns="">
          <p:sp>
            <p:nvSpPr>
              <p:cNvPr id="16" name="Rectangle 15">
                <a:extLst>
                  <a:ext uri="{FF2B5EF4-FFF2-40B4-BE49-F238E27FC236}">
                    <a16:creationId xmlns:a16="http://schemas.microsoft.com/office/drawing/2014/main" id="{18920091-40E3-49F7-A296-D0A5A6A88B7C}"/>
                  </a:ext>
                </a:extLst>
              </p:cNvPr>
              <p:cNvSpPr>
                <a:spLocks noRot="1" noChangeAspect="1" noMove="1" noResize="1" noEditPoints="1" noAdjustHandles="1" noChangeArrowheads="1" noChangeShapeType="1" noTextEdit="1"/>
              </p:cNvSpPr>
              <p:nvPr/>
            </p:nvSpPr>
            <p:spPr>
              <a:xfrm>
                <a:off x="2070465" y="3999961"/>
                <a:ext cx="72115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2C35BCB-6BF9-4068-BE13-028F415C7E29}"/>
                  </a:ext>
                </a:extLst>
              </p:cNvPr>
              <p:cNvSpPr/>
              <p:nvPr/>
            </p:nvSpPr>
            <p:spPr>
              <a:xfrm>
                <a:off x="4051665" y="3358095"/>
                <a:ext cx="5111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𝐻</m:t>
                          </m:r>
                        </m:e>
                        <m:sub>
                          <m:r>
                            <a:rPr lang="en-US" b="0" i="1" smtClean="0">
                              <a:latin typeface="Cambria Math"/>
                            </a:rPr>
                            <m:t>𝑅</m:t>
                          </m:r>
                        </m:sub>
                      </m:sSub>
                    </m:oMath>
                  </m:oMathPara>
                </a14:m>
                <a:endParaRPr lang="en-US" dirty="0"/>
              </a:p>
            </p:txBody>
          </p:sp>
        </mc:Choice>
        <mc:Fallback xmlns="">
          <p:sp>
            <p:nvSpPr>
              <p:cNvPr id="17" name="Rectangle 16">
                <a:extLst>
                  <a:ext uri="{FF2B5EF4-FFF2-40B4-BE49-F238E27FC236}">
                    <a16:creationId xmlns:a16="http://schemas.microsoft.com/office/drawing/2014/main" id="{02C35BCB-6BF9-4068-BE13-028F415C7E29}"/>
                  </a:ext>
                </a:extLst>
              </p:cNvPr>
              <p:cNvSpPr>
                <a:spLocks noRot="1" noChangeAspect="1" noMove="1" noResize="1" noEditPoints="1" noAdjustHandles="1" noChangeArrowheads="1" noChangeShapeType="1" noTextEdit="1"/>
              </p:cNvSpPr>
              <p:nvPr/>
            </p:nvSpPr>
            <p:spPr>
              <a:xfrm>
                <a:off x="4051665" y="3358095"/>
                <a:ext cx="51116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F5D372B-7A56-4D6F-AA19-F40F8A56369D}"/>
                  </a:ext>
                </a:extLst>
              </p:cNvPr>
              <p:cNvSpPr/>
              <p:nvPr/>
            </p:nvSpPr>
            <p:spPr>
              <a:xfrm>
                <a:off x="2431044" y="2716229"/>
                <a:ext cx="8229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rPr>
                        <m:t>𝑁</m:t>
                      </m:r>
                      <m:r>
                        <a:rPr lang="en-US" b="0" i="1" smtClean="0">
                          <a:latin typeface="Cambria Math"/>
                        </a:rPr>
                        <m:t>𝑜𝑖𝑠𝑒</m:t>
                      </m:r>
                    </m:oMath>
                  </m:oMathPara>
                </a14:m>
                <a:endParaRPr lang="en-US" dirty="0"/>
              </a:p>
            </p:txBody>
          </p:sp>
        </mc:Choice>
        <mc:Fallback xmlns="">
          <p:sp>
            <p:nvSpPr>
              <p:cNvPr id="18" name="Rectangle 17">
                <a:extLst>
                  <a:ext uri="{FF2B5EF4-FFF2-40B4-BE49-F238E27FC236}">
                    <a16:creationId xmlns:a16="http://schemas.microsoft.com/office/drawing/2014/main" id="{EF5D372B-7A56-4D6F-AA19-F40F8A56369D}"/>
                  </a:ext>
                </a:extLst>
              </p:cNvPr>
              <p:cNvSpPr>
                <a:spLocks noRot="1" noChangeAspect="1" noMove="1" noResize="1" noEditPoints="1" noAdjustHandles="1" noChangeArrowheads="1" noChangeShapeType="1" noTextEdit="1"/>
              </p:cNvSpPr>
              <p:nvPr/>
            </p:nvSpPr>
            <p:spPr>
              <a:xfrm>
                <a:off x="2431044" y="2716229"/>
                <a:ext cx="822918" cy="369332"/>
              </a:xfrm>
              <a:prstGeom prst="rect">
                <a:avLst/>
              </a:prstGeom>
              <a:blipFill>
                <a:blip r:embed="rId10"/>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C8B7F64C-2A40-4692-89AB-3DABB396193F}"/>
              </a:ext>
            </a:extLst>
          </p:cNvPr>
          <p:cNvCxnSpPr>
            <a:stCxn id="15" idx="3"/>
          </p:cNvCxnSpPr>
          <p:nvPr/>
        </p:nvCxnSpPr>
        <p:spPr>
          <a:xfrm>
            <a:off x="1103374" y="3542761"/>
            <a:ext cx="2948291"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679AD30A-F62E-4E31-9BEB-729A059C1A10}"/>
              </a:ext>
            </a:extLst>
          </p:cNvPr>
          <p:cNvSpPr/>
          <p:nvPr/>
        </p:nvSpPr>
        <p:spPr>
          <a:xfrm>
            <a:off x="1537065" y="3542761"/>
            <a:ext cx="914400" cy="914400"/>
          </a:xfrm>
          <a:prstGeom prst="arc">
            <a:avLst/>
          </a:prstGeom>
          <a:noFill/>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72F9798C-4E6F-4EA8-9E5D-FFBDF86F99A4}"/>
                  </a:ext>
                </a:extLst>
              </p:cNvPr>
              <p:cNvSpPr/>
              <p:nvPr/>
            </p:nvSpPr>
            <p:spPr>
              <a:xfrm>
                <a:off x="2351756" y="3173429"/>
                <a:ext cx="5129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𝐻</m:t>
                          </m:r>
                        </m:e>
                        <m:sub>
                          <m:r>
                            <a:rPr lang="en-US" b="0" i="1" smtClean="0">
                              <a:latin typeface="Cambria Math"/>
                            </a:rPr>
                            <m:t>𝑇</m:t>
                          </m:r>
                        </m:sub>
                      </m:sSub>
                    </m:oMath>
                  </m:oMathPara>
                </a14:m>
                <a:endParaRPr lang="en-US" dirty="0"/>
              </a:p>
            </p:txBody>
          </p:sp>
        </mc:Choice>
        <mc:Fallback xmlns="">
          <p:sp>
            <p:nvSpPr>
              <p:cNvPr id="21" name="Rectangle 20">
                <a:extLst>
                  <a:ext uri="{FF2B5EF4-FFF2-40B4-BE49-F238E27FC236}">
                    <a16:creationId xmlns:a16="http://schemas.microsoft.com/office/drawing/2014/main" id="{72F9798C-4E6F-4EA8-9E5D-FFBDF86F99A4}"/>
                  </a:ext>
                </a:extLst>
              </p:cNvPr>
              <p:cNvSpPr>
                <a:spLocks noRot="1" noChangeAspect="1" noMove="1" noResize="1" noEditPoints="1" noAdjustHandles="1" noChangeArrowheads="1" noChangeShapeType="1" noTextEdit="1"/>
              </p:cNvSpPr>
              <p:nvPr/>
            </p:nvSpPr>
            <p:spPr>
              <a:xfrm>
                <a:off x="2351756" y="3173429"/>
                <a:ext cx="512961"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C80DC694-6417-4D10-98CD-65CE00A78758}"/>
                  </a:ext>
                </a:extLst>
              </p:cNvPr>
              <p:cNvSpPr/>
              <p:nvPr/>
            </p:nvSpPr>
            <p:spPr>
              <a:xfrm>
                <a:off x="1537065" y="4838161"/>
                <a:ext cx="22149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a:rPr>
                            <m:t>𝐻</m:t>
                          </m:r>
                        </m:e>
                        <m:sub>
                          <m:r>
                            <a:rPr lang="en-US" b="0" i="1" smtClean="0">
                              <a:latin typeface="Cambria Math"/>
                            </a:rPr>
                            <m:t>𝑇</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𝐻</m:t>
                          </m:r>
                        </m:e>
                        <m:sub>
                          <m:r>
                            <a:rPr lang="en-US" b="0" i="1" smtClean="0">
                              <a:latin typeface="Cambria Math"/>
                            </a:rPr>
                            <m:t>𝑆</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𝐻</m:t>
                          </m:r>
                        </m:e>
                        <m:sub>
                          <m:r>
                            <a:rPr lang="en-US" b="0" i="1" smtClean="0">
                              <a:latin typeface="Cambria Math"/>
                            </a:rPr>
                            <m:t>𝑅</m:t>
                          </m:r>
                        </m:sub>
                      </m:sSub>
                      <m:sSub>
                        <m:sSubPr>
                          <m:ctrlPr>
                            <a:rPr lang="en-US" i="1">
                              <a:latin typeface="Cambria Math" panose="02040503050406030204" pitchFamily="18" charset="0"/>
                            </a:rPr>
                          </m:ctrlPr>
                        </m:sSubPr>
                        <m:e>
                          <m:r>
                            <a:rPr lang="en-US" b="0" i="1" smtClean="0">
                              <a:latin typeface="Cambria Math"/>
                            </a:rPr>
                            <m:t>−</m:t>
                          </m:r>
                          <m:r>
                            <a:rPr lang="en-US" i="1">
                              <a:latin typeface="Cambria Math"/>
                            </a:rPr>
                            <m:t>𝐻</m:t>
                          </m:r>
                        </m:e>
                        <m:sub>
                          <m:r>
                            <a:rPr lang="en-US" b="0" i="1" smtClean="0">
                              <a:latin typeface="Cambria Math"/>
                            </a:rPr>
                            <m:t>𝑆𝑅</m:t>
                          </m:r>
                        </m:sub>
                      </m:sSub>
                    </m:oMath>
                  </m:oMathPara>
                </a14:m>
                <a:endParaRPr lang="en-US" dirty="0"/>
              </a:p>
            </p:txBody>
          </p:sp>
        </mc:Choice>
        <mc:Fallback xmlns="">
          <p:sp>
            <p:nvSpPr>
              <p:cNvPr id="22" name="Rectangle 21">
                <a:extLst>
                  <a:ext uri="{FF2B5EF4-FFF2-40B4-BE49-F238E27FC236}">
                    <a16:creationId xmlns:a16="http://schemas.microsoft.com/office/drawing/2014/main" id="{C80DC694-6417-4D10-98CD-65CE00A78758}"/>
                  </a:ext>
                </a:extLst>
              </p:cNvPr>
              <p:cNvSpPr>
                <a:spLocks noRot="1" noChangeAspect="1" noMove="1" noResize="1" noEditPoints="1" noAdjustHandles="1" noChangeArrowheads="1" noChangeShapeType="1" noTextEdit="1"/>
              </p:cNvSpPr>
              <p:nvPr/>
            </p:nvSpPr>
            <p:spPr>
              <a:xfrm>
                <a:off x="1537065" y="4838161"/>
                <a:ext cx="2214965" cy="369332"/>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385912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Information Capacity</a:t>
            </a:r>
            <a:endParaRPr lang="en-US" dirty="0"/>
          </a:p>
        </p:txBody>
      </p:sp>
      <p:sp>
        <p:nvSpPr>
          <p:cNvPr id="12" name="TextBox 11"/>
          <p:cNvSpPr txBox="1"/>
          <p:nvPr/>
        </p:nvSpPr>
        <p:spPr>
          <a:xfrm>
            <a:off x="838200" y="1564966"/>
            <a:ext cx="3645100" cy="3416320"/>
          </a:xfrm>
          <a:prstGeom prst="rect">
            <a:avLst/>
          </a:prstGeom>
          <a:noFill/>
        </p:spPr>
        <p:txBody>
          <a:bodyPr wrap="none" rtlCol="0">
            <a:spAutoFit/>
          </a:bodyPr>
          <a:lstStyle/>
          <a:p>
            <a:r>
              <a:rPr lang="en-US" sz="2400" b="1" i="1" dirty="0"/>
              <a:t>Measuring Capacity</a:t>
            </a:r>
          </a:p>
          <a:p>
            <a:r>
              <a:rPr lang="en-US" sz="2400" dirty="0"/>
              <a:t>Pick a stimulus continuum</a:t>
            </a:r>
          </a:p>
          <a:p>
            <a:r>
              <a:rPr lang="en-US" sz="2400" dirty="0"/>
              <a:t>e.g. tone pitch</a:t>
            </a:r>
          </a:p>
          <a:p>
            <a:endParaRPr lang="en-US" sz="2400" dirty="0"/>
          </a:p>
          <a:p>
            <a:r>
              <a:rPr lang="en-US" sz="2400" dirty="0"/>
              <a:t>Slowly increase the number</a:t>
            </a:r>
          </a:p>
          <a:p>
            <a:r>
              <a:rPr lang="en-US" sz="2400" dirty="0"/>
              <a:t>of the presented stimuli</a:t>
            </a:r>
          </a:p>
          <a:p>
            <a:endParaRPr lang="en-US" sz="2400" dirty="0"/>
          </a:p>
          <a:p>
            <a:r>
              <a:rPr lang="en-US" sz="2400" dirty="0"/>
              <a:t>Measure information </a:t>
            </a:r>
          </a:p>
          <a:p>
            <a:r>
              <a:rPr lang="en-US" sz="2400" dirty="0"/>
              <a:t>transmission</a:t>
            </a:r>
          </a:p>
        </p:txBody>
      </p:sp>
      <p:sp>
        <p:nvSpPr>
          <p:cNvPr id="13" name="Content Placeholder 2">
            <a:extLst>
              <a:ext uri="{FF2B5EF4-FFF2-40B4-BE49-F238E27FC236}">
                <a16:creationId xmlns:a16="http://schemas.microsoft.com/office/drawing/2014/main" id="{82185F50-C61D-4FE9-9CB4-765E9B11D197}"/>
              </a:ext>
            </a:extLst>
          </p:cNvPr>
          <p:cNvSpPr>
            <a:spLocks noGrp="1"/>
          </p:cNvSpPr>
          <p:nvPr>
            <p:ph idx="1"/>
          </p:nvPr>
        </p:nvSpPr>
        <p:spPr>
          <a:xfrm>
            <a:off x="1104836" y="5293034"/>
            <a:ext cx="10515600" cy="4351338"/>
          </a:xfrm>
        </p:spPr>
        <p:txBody>
          <a:bodyPr/>
          <a:lstStyle/>
          <a:p>
            <a:r>
              <a:rPr lang="en-US" dirty="0"/>
              <a:t>Most continuums have a channel capacity is usually 2-3 bits</a:t>
            </a:r>
          </a:p>
          <a:p>
            <a:pPr lvl="1"/>
            <a:r>
              <a:rPr lang="en-US" dirty="0"/>
              <a:t>Saltiness: &lt; 2 bits</a:t>
            </a:r>
          </a:p>
          <a:p>
            <a:pPr lvl="1"/>
            <a:r>
              <a:rPr lang="en-US" dirty="0"/>
              <a:t>Visual position on a line: 3.4 bits</a:t>
            </a:r>
          </a:p>
          <a:p>
            <a:endParaRPr lang="en-US" dirty="0"/>
          </a:p>
          <a:p>
            <a:pPr lvl="1"/>
            <a:endParaRPr lang="en-US" dirty="0"/>
          </a:p>
        </p:txBody>
      </p:sp>
    </p:spTree>
    <p:extLst>
      <p:ext uri="{BB962C8B-B14F-4D97-AF65-F5344CB8AC3E}">
        <p14:creationId xmlns:p14="http://schemas.microsoft.com/office/powerpoint/2010/main" val="4224756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Applications of Object-Based Processing</a:t>
            </a:r>
          </a:p>
        </p:txBody>
      </p:sp>
      <p:sp>
        <p:nvSpPr>
          <p:cNvPr id="3" name="Content Placeholder 2"/>
          <p:cNvSpPr>
            <a:spLocks noGrp="1"/>
          </p:cNvSpPr>
          <p:nvPr>
            <p:ph idx="1"/>
          </p:nvPr>
        </p:nvSpPr>
        <p:spPr>
          <a:xfrm>
            <a:off x="406400" y="1295401"/>
            <a:ext cx="10972800" cy="4625609"/>
          </a:xfrm>
        </p:spPr>
        <p:txBody>
          <a:bodyPr/>
          <a:lstStyle/>
          <a:p>
            <a:r>
              <a:rPr lang="en-US" dirty="0"/>
              <a:t>Conformal display- alignment between the object displayed and the outside scene</a:t>
            </a:r>
          </a:p>
        </p:txBody>
      </p:sp>
      <p:pic>
        <p:nvPicPr>
          <p:cNvPr id="2050" name="Picture 2" descr="http://www.flightglobal.com/blogs/wp-content/uploads/mt/flightglobalweb/blogs/flightblogger/BBJ_EVS_HUD_56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4400" y="2921001"/>
            <a:ext cx="5017368"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913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Pictorial realism</a:t>
            </a:r>
          </a:p>
        </p:txBody>
      </p:sp>
      <p:sp>
        <p:nvSpPr>
          <p:cNvPr id="3" name="Content Placeholder 2"/>
          <p:cNvSpPr>
            <a:spLocks noGrp="1"/>
          </p:cNvSpPr>
          <p:nvPr>
            <p:ph idx="1"/>
          </p:nvPr>
        </p:nvSpPr>
        <p:spPr>
          <a:xfrm>
            <a:off x="609600" y="1775192"/>
            <a:ext cx="10972800" cy="4931035"/>
          </a:xfrm>
        </p:spPr>
        <p:txBody>
          <a:bodyPr>
            <a:normAutofit/>
          </a:bodyPr>
          <a:lstStyle/>
          <a:p>
            <a:r>
              <a:rPr lang="en-US" dirty="0"/>
              <a:t>The principle of pictorial realism (PPR)</a:t>
            </a:r>
          </a:p>
          <a:p>
            <a:pPr lvl="1"/>
            <a:r>
              <a:rPr lang="en-US" dirty="0"/>
              <a:t>If a variable’s physical representation is analog, then its display representation should be analog</a:t>
            </a:r>
          </a:p>
          <a:p>
            <a:pPr lvl="2"/>
            <a:r>
              <a:rPr lang="en-US" dirty="0"/>
              <a:t>e.g. Altimeter</a:t>
            </a:r>
          </a:p>
          <a:p>
            <a:pPr lvl="1"/>
            <a:r>
              <a:rPr lang="en-US" dirty="0"/>
              <a:t>Task requirements also play a role</a:t>
            </a:r>
          </a:p>
          <a:p>
            <a:pPr lvl="2"/>
            <a:r>
              <a:rPr lang="en-US" dirty="0"/>
              <a:t>What do users need to do?</a:t>
            </a:r>
          </a:p>
          <a:p>
            <a:pPr lvl="2"/>
            <a:r>
              <a:rPr lang="en-US" dirty="0"/>
              <a:t>Reading time vs. reading time span </a:t>
            </a:r>
            <a:r>
              <a:rPr lang="en-US" sz="2133" dirty="0"/>
              <a:t>(Miller and </a:t>
            </a:r>
            <a:r>
              <a:rPr lang="en-US" sz="2133" dirty="0" err="1"/>
              <a:t>Penningroth</a:t>
            </a:r>
            <a:r>
              <a:rPr lang="en-US" sz="2133" dirty="0"/>
              <a:t>, 1997)</a:t>
            </a:r>
            <a:endParaRPr lang="en-US" dirty="0"/>
          </a:p>
          <a:p>
            <a:pPr lvl="2"/>
            <a:r>
              <a:rPr lang="en-US" dirty="0"/>
              <a:t>Perceiving magnitude of a variable vs. perceiving rate of change </a:t>
            </a:r>
            <a:r>
              <a:rPr lang="en-US" sz="2133" dirty="0"/>
              <a:t>(Proctor &amp; Van Zandt, 2008l Schwartz &amp; Howell, 1985)</a:t>
            </a:r>
          </a:p>
        </p:txBody>
      </p:sp>
    </p:spTree>
    <p:extLst>
      <p:ext uri="{BB962C8B-B14F-4D97-AF65-F5344CB8AC3E}">
        <p14:creationId xmlns:p14="http://schemas.microsoft.com/office/powerpoint/2010/main" val="94714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Compatibility of Display Movement </a:t>
            </a:r>
          </a:p>
        </p:txBody>
      </p:sp>
      <p:sp>
        <p:nvSpPr>
          <p:cNvPr id="3" name="Content Placeholder 2"/>
          <p:cNvSpPr>
            <a:spLocks noGrp="1"/>
          </p:cNvSpPr>
          <p:nvPr>
            <p:ph idx="1"/>
          </p:nvPr>
        </p:nvSpPr>
        <p:spPr/>
        <p:txBody>
          <a:bodyPr/>
          <a:lstStyle/>
          <a:p>
            <a:r>
              <a:rPr lang="en-US" dirty="0"/>
              <a:t>Principle of the Moving Part (PMP)</a:t>
            </a:r>
          </a:p>
          <a:p>
            <a:pPr lvl="1"/>
            <a:r>
              <a:rPr lang="en-US" dirty="0"/>
              <a:t>Movement of an indicator should be compatible with operator’s mental model</a:t>
            </a:r>
          </a:p>
          <a:p>
            <a:pPr lvl="2"/>
            <a:r>
              <a:rPr lang="en-US" dirty="0"/>
              <a:t>Mercury thermometer</a:t>
            </a:r>
          </a:p>
          <a:p>
            <a:pPr lvl="1"/>
            <a:r>
              <a:rPr lang="en-US" dirty="0"/>
              <a:t>Sometimes PPR and PMP operate in opposition and cannot both be met</a:t>
            </a:r>
          </a:p>
          <a:p>
            <a:pPr lvl="1"/>
            <a:endParaRPr lang="en-US" dirty="0"/>
          </a:p>
        </p:txBody>
      </p:sp>
    </p:spTree>
    <p:extLst>
      <p:ext uri="{BB962C8B-B14F-4D97-AF65-F5344CB8AC3E}">
        <p14:creationId xmlns:p14="http://schemas.microsoft.com/office/powerpoint/2010/main" val="35245489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3"/>
          <p:cNvSpPr/>
          <p:nvPr/>
        </p:nvSpPr>
        <p:spPr>
          <a:xfrm>
            <a:off x="975333" y="1739181"/>
            <a:ext cx="1741027" cy="4045327"/>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tx1"/>
                </a:solidFill>
                <a:latin typeface="Arial" panose="020B0604020202020204" pitchFamily="34" charset="0"/>
                <a:cs typeface="Arial" panose="020B0604020202020204" pitchFamily="34" charset="0"/>
              </a:rPr>
              <a:t>50,000    --</a:t>
            </a:r>
          </a:p>
          <a:p>
            <a:pPr algn="r"/>
            <a:endParaRPr lang="en-US" sz="2400" dirty="0">
              <a:solidFill>
                <a:schemeClr val="tx1"/>
              </a:solidFill>
              <a:latin typeface="Arial" panose="020B0604020202020204" pitchFamily="34" charset="0"/>
              <a:cs typeface="Arial" panose="020B0604020202020204" pitchFamily="34" charset="0"/>
            </a:endParaRPr>
          </a:p>
          <a:p>
            <a:pPr algn="r"/>
            <a:r>
              <a:rPr lang="en-US" sz="2400" dirty="0">
                <a:solidFill>
                  <a:schemeClr val="tx1"/>
                </a:solidFill>
                <a:latin typeface="Arial" panose="020B0604020202020204" pitchFamily="34" charset="0"/>
                <a:cs typeface="Arial" panose="020B0604020202020204" pitchFamily="34" charset="0"/>
              </a:rPr>
              <a:t>40,000    --</a:t>
            </a:r>
          </a:p>
          <a:p>
            <a:pPr algn="r"/>
            <a:endParaRPr lang="en-US" sz="2400" dirty="0">
              <a:solidFill>
                <a:schemeClr val="tx1"/>
              </a:solidFill>
              <a:latin typeface="Arial" panose="020B0604020202020204" pitchFamily="34" charset="0"/>
              <a:cs typeface="Arial" panose="020B0604020202020204" pitchFamily="34" charset="0"/>
            </a:endParaRPr>
          </a:p>
          <a:p>
            <a:pPr algn="r"/>
            <a:r>
              <a:rPr lang="en-US" sz="2400" dirty="0">
                <a:solidFill>
                  <a:schemeClr val="tx1"/>
                </a:solidFill>
                <a:latin typeface="Arial" panose="020B0604020202020204" pitchFamily="34" charset="0"/>
                <a:cs typeface="Arial" panose="020B0604020202020204" pitchFamily="34" charset="0"/>
              </a:rPr>
              <a:t>30,000    --</a:t>
            </a:r>
          </a:p>
          <a:p>
            <a:pPr algn="r"/>
            <a:endParaRPr lang="en-US" sz="2400" dirty="0">
              <a:solidFill>
                <a:schemeClr val="tx1"/>
              </a:solidFill>
              <a:latin typeface="Arial" panose="020B0604020202020204" pitchFamily="34" charset="0"/>
              <a:cs typeface="Arial" panose="020B0604020202020204" pitchFamily="34" charset="0"/>
            </a:endParaRPr>
          </a:p>
          <a:p>
            <a:pPr algn="r"/>
            <a:r>
              <a:rPr lang="en-US" sz="2400" dirty="0">
                <a:solidFill>
                  <a:schemeClr val="tx1"/>
                </a:solidFill>
                <a:latin typeface="Arial" panose="020B0604020202020204" pitchFamily="34" charset="0"/>
                <a:cs typeface="Arial" panose="020B0604020202020204" pitchFamily="34" charset="0"/>
              </a:rPr>
              <a:t>20,000    --</a:t>
            </a:r>
          </a:p>
          <a:p>
            <a:pPr algn="r"/>
            <a:endParaRPr lang="en-US" sz="2400" dirty="0">
              <a:solidFill>
                <a:schemeClr val="tx1"/>
              </a:solidFill>
              <a:latin typeface="Arial" panose="020B0604020202020204" pitchFamily="34" charset="0"/>
              <a:cs typeface="Arial" panose="020B0604020202020204" pitchFamily="34" charset="0"/>
            </a:endParaRPr>
          </a:p>
          <a:p>
            <a:pPr algn="r"/>
            <a:r>
              <a:rPr lang="en-US" sz="2400" dirty="0">
                <a:solidFill>
                  <a:schemeClr val="tx1"/>
                </a:solidFill>
                <a:latin typeface="Arial" panose="020B0604020202020204" pitchFamily="34" charset="0"/>
                <a:cs typeface="Arial" panose="020B0604020202020204" pitchFamily="34" charset="0"/>
              </a:rPr>
              <a:t>10,000    --</a:t>
            </a:r>
          </a:p>
          <a:p>
            <a:pPr algn="r"/>
            <a:endParaRPr lang="en-US" sz="2400" dirty="0">
              <a:solidFill>
                <a:schemeClr val="tx1"/>
              </a:solidFill>
              <a:latin typeface="Arial" panose="020B0604020202020204" pitchFamily="34" charset="0"/>
              <a:cs typeface="Arial" panose="020B0604020202020204" pitchFamily="34" charset="0"/>
            </a:endParaRPr>
          </a:p>
          <a:p>
            <a:pPr algn="r"/>
            <a:r>
              <a:rPr lang="en-US" sz="2400" dirty="0">
                <a:solidFill>
                  <a:schemeClr val="tx1"/>
                </a:solidFill>
                <a:latin typeface="Arial" panose="020B0604020202020204" pitchFamily="34" charset="0"/>
                <a:cs typeface="Arial" panose="020B0604020202020204" pitchFamily="34" charset="0"/>
              </a:rPr>
              <a:t>0    --</a:t>
            </a:r>
          </a:p>
        </p:txBody>
      </p:sp>
      <p:cxnSp>
        <p:nvCxnSpPr>
          <p:cNvPr id="6" name="Straight Arrow Connector 5"/>
          <p:cNvCxnSpPr/>
          <p:nvPr/>
        </p:nvCxnSpPr>
        <p:spPr>
          <a:xfrm flipH="1">
            <a:off x="2511534" y="5323647"/>
            <a:ext cx="71689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243837" y="6142954"/>
            <a:ext cx="3129383" cy="461665"/>
          </a:xfrm>
          <a:prstGeom prst="rect">
            <a:avLst/>
          </a:prstGeom>
          <a:noFill/>
        </p:spPr>
        <p:txBody>
          <a:bodyPr wrap="none" rtlCol="0">
            <a:spAutoFit/>
          </a:bodyPr>
          <a:lstStyle/>
          <a:p>
            <a:r>
              <a:rPr lang="en-US" sz="2400" dirty="0"/>
              <a:t>Moving Scale Indicators</a:t>
            </a:r>
          </a:p>
        </p:txBody>
      </p:sp>
      <p:sp>
        <p:nvSpPr>
          <p:cNvPr id="8" name="Rectangle 7"/>
          <p:cNvSpPr/>
          <p:nvPr/>
        </p:nvSpPr>
        <p:spPr>
          <a:xfrm>
            <a:off x="5737553" y="1739181"/>
            <a:ext cx="1741027" cy="4045327"/>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rial" panose="020B0604020202020204" pitchFamily="34" charset="0"/>
                <a:cs typeface="Arial" panose="020B0604020202020204" pitchFamily="34" charset="0"/>
              </a:rPr>
              <a:t>600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500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400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300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200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100</a:t>
            </a:r>
          </a:p>
        </p:txBody>
      </p:sp>
      <p:sp>
        <p:nvSpPr>
          <p:cNvPr id="9" name="Rectangle 8"/>
          <p:cNvSpPr/>
          <p:nvPr/>
        </p:nvSpPr>
        <p:spPr>
          <a:xfrm>
            <a:off x="8758747" y="1739181"/>
            <a:ext cx="1741027" cy="4045327"/>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Arial" panose="020B0604020202020204" pitchFamily="34" charset="0"/>
                <a:cs typeface="Arial" panose="020B0604020202020204" pitchFamily="34" charset="0"/>
              </a:rPr>
              <a:t>100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200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300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400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500</a:t>
            </a:r>
          </a:p>
          <a:p>
            <a:pPr algn="ctr"/>
            <a:endParaRPr lang="en-US" sz="2400" dirty="0">
              <a:solidFill>
                <a:schemeClr val="tx1"/>
              </a:solidFill>
              <a:latin typeface="Arial" panose="020B0604020202020204" pitchFamily="34" charset="0"/>
              <a:cs typeface="Arial" panose="020B0604020202020204" pitchFamily="34" charset="0"/>
            </a:endParaRPr>
          </a:p>
          <a:p>
            <a:pPr algn="ctr"/>
            <a:r>
              <a:rPr lang="en-US" sz="2400" dirty="0">
                <a:solidFill>
                  <a:schemeClr val="tx1"/>
                </a:solidFill>
                <a:latin typeface="Arial" panose="020B0604020202020204" pitchFamily="34" charset="0"/>
                <a:cs typeface="Arial" panose="020B0604020202020204" pitchFamily="34" charset="0"/>
              </a:rPr>
              <a:t>600</a:t>
            </a:r>
          </a:p>
        </p:txBody>
      </p:sp>
      <p:cxnSp>
        <p:nvCxnSpPr>
          <p:cNvPr id="11" name="Straight Connector 10"/>
          <p:cNvCxnSpPr/>
          <p:nvPr/>
        </p:nvCxnSpPr>
        <p:spPr>
          <a:xfrm>
            <a:off x="5532727" y="3761843"/>
            <a:ext cx="22018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553921" y="3736240"/>
            <a:ext cx="22018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56813" y="6142954"/>
            <a:ext cx="3278718" cy="461665"/>
          </a:xfrm>
          <a:prstGeom prst="rect">
            <a:avLst/>
          </a:prstGeom>
          <a:noFill/>
        </p:spPr>
        <p:txBody>
          <a:bodyPr wrap="none" rtlCol="0">
            <a:spAutoFit/>
          </a:bodyPr>
          <a:lstStyle/>
          <a:p>
            <a:r>
              <a:rPr lang="en-US" sz="2400" dirty="0"/>
              <a:t>Moving Pointer Indicator</a:t>
            </a:r>
          </a:p>
        </p:txBody>
      </p:sp>
      <p:cxnSp>
        <p:nvCxnSpPr>
          <p:cNvPr id="15" name="Straight Arrow Connector 14"/>
          <p:cNvCxnSpPr/>
          <p:nvPr/>
        </p:nvCxnSpPr>
        <p:spPr>
          <a:xfrm flipV="1">
            <a:off x="3633551" y="3761843"/>
            <a:ext cx="0" cy="15618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9065987" y="2980941"/>
            <a:ext cx="0" cy="15618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993587" y="3004234"/>
            <a:ext cx="0" cy="15385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5854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A close up of text on a black background&#10;&#10;Description generated with very high confidence">
            <a:extLst>
              <a:ext uri="{FF2B5EF4-FFF2-40B4-BE49-F238E27FC236}">
                <a16:creationId xmlns:a16="http://schemas.microsoft.com/office/drawing/2014/main" id="{42C713C4-4B7F-4639-8AF1-CCBE0F000B77}"/>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8907"/>
          <a:stretch/>
        </p:blipFill>
        <p:spPr bwMode="auto">
          <a:xfrm>
            <a:off x="20" y="10"/>
            <a:ext cx="12191980" cy="685799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81516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B58A4-AF91-4894-9A2F-D68931CFBD0B}"/>
              </a:ext>
            </a:extLst>
          </p:cNvPr>
          <p:cNvSpPr>
            <a:spLocks noGrp="1"/>
          </p:cNvSpPr>
          <p:nvPr>
            <p:ph type="title"/>
          </p:nvPr>
        </p:nvSpPr>
        <p:spPr>
          <a:xfrm>
            <a:off x="527538" y="4756638"/>
            <a:ext cx="11139854" cy="930447"/>
          </a:xfrm>
        </p:spPr>
        <p:txBody>
          <a:bodyPr vert="horz" lIns="91440" tIns="45720" rIns="91440" bIns="45720" rtlCol="0" anchor="b">
            <a:normAutofit/>
          </a:bodyPr>
          <a:lstStyle/>
          <a:p>
            <a:pPr algn="ctr"/>
            <a:r>
              <a:rPr lang="en-US" sz="5400" dirty="0">
                <a:solidFill>
                  <a:srgbClr val="FFFFFF"/>
                </a:solidFill>
              </a:rPr>
              <a:t>Process Control / Critical Infrastructure</a:t>
            </a:r>
          </a:p>
        </p:txBody>
      </p:sp>
      <p:pic>
        <p:nvPicPr>
          <p:cNvPr id="5" name="Content Placeholder 4" descr="A picture containing tree&#10;&#10;Description generated with high confidence">
            <a:extLst>
              <a:ext uri="{FF2B5EF4-FFF2-40B4-BE49-F238E27FC236}">
                <a16:creationId xmlns:a16="http://schemas.microsoft.com/office/drawing/2014/main" id="{09A28BC1-E429-430A-941D-C0B6C3DFA12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2907" y="307731"/>
            <a:ext cx="5330182" cy="3997637"/>
          </a:xfrm>
          <a:prstGeom prst="rect">
            <a:avLst/>
          </a:prstGeom>
        </p:spPr>
      </p:pic>
      <p:pic>
        <p:nvPicPr>
          <p:cNvPr id="7" name="Picture 6" descr="A picture containing building, water, boat&#10;&#10;Description generated with high confidence">
            <a:extLst>
              <a:ext uri="{FF2B5EF4-FFF2-40B4-BE49-F238E27FC236}">
                <a16:creationId xmlns:a16="http://schemas.microsoft.com/office/drawing/2014/main" id="{BDE3A4CE-5634-48FC-90A8-504AF13EF9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043" y="622035"/>
            <a:ext cx="5455917" cy="3369028"/>
          </a:xfrm>
          <a:prstGeom prst="rect">
            <a:avLst/>
          </a:prstGeom>
        </p:spPr>
      </p:pic>
    </p:spTree>
    <p:extLst>
      <p:ext uri="{BB962C8B-B14F-4D97-AF65-F5344CB8AC3E}">
        <p14:creationId xmlns:p14="http://schemas.microsoft.com/office/powerpoint/2010/main" val="16112326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F4278-3D4A-4EFC-808B-8EF2BC6F67BA}"/>
              </a:ext>
            </a:extLst>
          </p:cNvPr>
          <p:cNvSpPr>
            <a:spLocks noGrp="1"/>
          </p:cNvSpPr>
          <p:nvPr>
            <p:ph type="title"/>
          </p:nvPr>
        </p:nvSpPr>
        <p:spPr/>
        <p:txBody>
          <a:bodyPr/>
          <a:lstStyle/>
          <a:p>
            <a:endParaRPr lang="en-US"/>
          </a:p>
        </p:txBody>
      </p:sp>
      <p:pic>
        <p:nvPicPr>
          <p:cNvPr id="5" name="Content Placeholder 4" descr="A screenshot of a cell phone&#10;&#10;Description generated with very high confidence">
            <a:extLst>
              <a:ext uri="{FF2B5EF4-FFF2-40B4-BE49-F238E27FC236}">
                <a16:creationId xmlns:a16="http://schemas.microsoft.com/office/drawing/2014/main" id="{2B7F210B-7F01-42FE-8DD8-443B53B66A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9872" y="758280"/>
            <a:ext cx="3596640" cy="53414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9AB5453B-B6E9-4475-B83C-4C9B695CE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840" y="758280"/>
            <a:ext cx="7491888" cy="5341439"/>
          </a:xfrm>
          <a:prstGeom prst="rect">
            <a:avLst/>
          </a:prstGeom>
        </p:spPr>
      </p:pic>
      <p:sp>
        <p:nvSpPr>
          <p:cNvPr id="10" name="Rectangle 9">
            <a:extLst>
              <a:ext uri="{FF2B5EF4-FFF2-40B4-BE49-F238E27FC236}">
                <a16:creationId xmlns:a16="http://schemas.microsoft.com/office/drawing/2014/main" id="{A299B2D1-5296-40DE-AF53-DBE760835929}"/>
              </a:ext>
            </a:extLst>
          </p:cNvPr>
          <p:cNvSpPr/>
          <p:nvPr/>
        </p:nvSpPr>
        <p:spPr>
          <a:xfrm>
            <a:off x="4434840" y="6188275"/>
            <a:ext cx="2874441" cy="369332"/>
          </a:xfrm>
          <a:prstGeom prst="rect">
            <a:avLst/>
          </a:prstGeom>
        </p:spPr>
        <p:txBody>
          <a:bodyPr wrap="none">
            <a:spAutoFit/>
          </a:bodyPr>
          <a:lstStyle/>
          <a:p>
            <a:pPr algn="ctr"/>
            <a:r>
              <a:rPr lang="en-US" dirty="0"/>
              <a:t>Not a high performance HMI</a:t>
            </a:r>
          </a:p>
        </p:txBody>
      </p:sp>
    </p:spTree>
    <p:extLst>
      <p:ext uri="{BB962C8B-B14F-4D97-AF65-F5344CB8AC3E}">
        <p14:creationId xmlns:p14="http://schemas.microsoft.com/office/powerpoint/2010/main" val="3337647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FA3C-677E-4865-B035-2E445EDC6101}"/>
              </a:ext>
            </a:extLst>
          </p:cNvPr>
          <p:cNvSpPr>
            <a:spLocks noGrp="1"/>
          </p:cNvSpPr>
          <p:nvPr>
            <p:ph type="title"/>
          </p:nvPr>
        </p:nvSpPr>
        <p:spPr/>
        <p:txBody>
          <a:bodyPr/>
          <a:lstStyle/>
          <a:p>
            <a:r>
              <a:rPr lang="en-US" dirty="0"/>
              <a:t>High Performance HMIs</a:t>
            </a:r>
          </a:p>
        </p:txBody>
      </p:sp>
      <p:sp>
        <p:nvSpPr>
          <p:cNvPr id="3" name="Content Placeholder 2">
            <a:extLst>
              <a:ext uri="{FF2B5EF4-FFF2-40B4-BE49-F238E27FC236}">
                <a16:creationId xmlns:a16="http://schemas.microsoft.com/office/drawing/2014/main" id="{7CF81FDA-E435-468B-8A58-0016B981E1A8}"/>
              </a:ext>
            </a:extLst>
          </p:cNvPr>
          <p:cNvSpPr>
            <a:spLocks noGrp="1"/>
          </p:cNvSpPr>
          <p:nvPr>
            <p:ph idx="1"/>
          </p:nvPr>
        </p:nvSpPr>
        <p:spPr/>
        <p:txBody>
          <a:bodyPr>
            <a:normAutofit lnSpcReduction="10000"/>
          </a:bodyPr>
          <a:lstStyle/>
          <a:p>
            <a:r>
              <a:rPr lang="en-US" dirty="0"/>
              <a:t>Do not resemble P&amp;IDs, do resemble the process</a:t>
            </a:r>
          </a:p>
          <a:p>
            <a:r>
              <a:rPr lang="en-US" dirty="0"/>
              <a:t>Encapsulate operator mental models but not designed by operators</a:t>
            </a:r>
          </a:p>
          <a:p>
            <a:pPr lvl="1"/>
            <a:r>
              <a:rPr lang="en-US" dirty="0"/>
              <a:t>Task Analysis</a:t>
            </a:r>
          </a:p>
          <a:p>
            <a:pPr lvl="1"/>
            <a:r>
              <a:rPr lang="en-US" dirty="0"/>
              <a:t>Commission and Training</a:t>
            </a:r>
          </a:p>
          <a:p>
            <a:r>
              <a:rPr lang="en-US" dirty="0"/>
              <a:t>Are hierarchical</a:t>
            </a:r>
          </a:p>
          <a:p>
            <a:pPr lvl="1"/>
            <a:r>
              <a:rPr lang="en-US" dirty="0"/>
              <a:t>Process Overview Displays</a:t>
            </a:r>
          </a:p>
          <a:p>
            <a:pPr lvl="1"/>
            <a:r>
              <a:rPr lang="en-US" dirty="0"/>
              <a:t>Process Control Displays</a:t>
            </a:r>
          </a:p>
          <a:p>
            <a:pPr lvl="1"/>
            <a:r>
              <a:rPr lang="en-US" dirty="0"/>
              <a:t>Process Detail Displays</a:t>
            </a:r>
          </a:p>
          <a:p>
            <a:pPr lvl="1"/>
            <a:r>
              <a:rPr lang="en-US" dirty="0"/>
              <a:t>Process Support and Diagnostics Displays</a:t>
            </a:r>
          </a:p>
          <a:p>
            <a:r>
              <a:rPr lang="en-US" dirty="0"/>
              <a:t>Consider Abnormal Situation Response</a:t>
            </a:r>
          </a:p>
          <a:p>
            <a:endParaRPr lang="en-US" dirty="0"/>
          </a:p>
        </p:txBody>
      </p:sp>
    </p:spTree>
    <p:extLst>
      <p:ext uri="{BB962C8B-B14F-4D97-AF65-F5344CB8AC3E}">
        <p14:creationId xmlns:p14="http://schemas.microsoft.com/office/powerpoint/2010/main" val="36422093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C0440-0487-4461-896D-A6C86E5459FF}"/>
              </a:ext>
            </a:extLst>
          </p:cNvPr>
          <p:cNvSpPr>
            <a:spLocks noGrp="1"/>
          </p:cNvSpPr>
          <p:nvPr>
            <p:ph type="title"/>
          </p:nvPr>
        </p:nvSpPr>
        <p:spPr/>
        <p:txBody>
          <a:bodyPr/>
          <a:lstStyle/>
          <a:p>
            <a:endParaRPr lang="en-US"/>
          </a:p>
        </p:txBody>
      </p:sp>
      <p:pic>
        <p:nvPicPr>
          <p:cNvPr id="5" name="Content Placeholder 4" descr="A close up of a logo&#10;&#10;Description generated with very high confidence">
            <a:extLst>
              <a:ext uri="{FF2B5EF4-FFF2-40B4-BE49-F238E27FC236}">
                <a16:creationId xmlns:a16="http://schemas.microsoft.com/office/drawing/2014/main" id="{8D72175B-957F-46C6-8F1A-B565FF68BD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5745" y="71717"/>
            <a:ext cx="13062856" cy="6858000"/>
          </a:xfrm>
        </p:spPr>
      </p:pic>
    </p:spTree>
    <p:extLst>
      <p:ext uri="{BB962C8B-B14F-4D97-AF65-F5344CB8AC3E}">
        <p14:creationId xmlns:p14="http://schemas.microsoft.com/office/powerpoint/2010/main" val="19640476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FA3C-677E-4865-B035-2E445EDC6101}"/>
              </a:ext>
            </a:extLst>
          </p:cNvPr>
          <p:cNvSpPr>
            <a:spLocks noGrp="1"/>
          </p:cNvSpPr>
          <p:nvPr>
            <p:ph type="title"/>
          </p:nvPr>
        </p:nvSpPr>
        <p:spPr/>
        <p:txBody>
          <a:bodyPr/>
          <a:lstStyle/>
          <a:p>
            <a:r>
              <a:rPr lang="en-US" dirty="0"/>
              <a:t>Good Alarm Management</a:t>
            </a:r>
          </a:p>
        </p:txBody>
      </p:sp>
      <p:sp>
        <p:nvSpPr>
          <p:cNvPr id="3" name="Content Placeholder 2">
            <a:extLst>
              <a:ext uri="{FF2B5EF4-FFF2-40B4-BE49-F238E27FC236}">
                <a16:creationId xmlns:a16="http://schemas.microsoft.com/office/drawing/2014/main" id="{7CF81FDA-E435-468B-8A58-0016B981E1A8}"/>
              </a:ext>
            </a:extLst>
          </p:cNvPr>
          <p:cNvSpPr>
            <a:spLocks noGrp="1"/>
          </p:cNvSpPr>
          <p:nvPr>
            <p:ph idx="1"/>
          </p:nvPr>
        </p:nvSpPr>
        <p:spPr/>
        <p:txBody>
          <a:bodyPr>
            <a:normAutofit/>
          </a:bodyPr>
          <a:lstStyle/>
          <a:p>
            <a:r>
              <a:rPr lang="en-US" dirty="0"/>
              <a:t>Categorizes alarms based on priority (required response time)</a:t>
            </a:r>
          </a:p>
          <a:p>
            <a:r>
              <a:rPr lang="en-US" dirty="0"/>
              <a:t>Avoids false alarms (nuisance alarms)</a:t>
            </a:r>
          </a:p>
          <a:p>
            <a:pPr lvl="1"/>
            <a:r>
              <a:rPr lang="en-US" dirty="0"/>
              <a:t>Aim for &lt; 150 / day, 6 per hour, 1 per 10 minute period</a:t>
            </a:r>
          </a:p>
          <a:p>
            <a:r>
              <a:rPr lang="en-US" dirty="0"/>
              <a:t>Has consistent annunciation representation by priority (color, sound)</a:t>
            </a:r>
          </a:p>
          <a:p>
            <a:endParaRPr lang="en-US" dirty="0"/>
          </a:p>
          <a:p>
            <a:endParaRPr lang="en-US" dirty="0"/>
          </a:p>
        </p:txBody>
      </p:sp>
    </p:spTree>
    <p:extLst>
      <p:ext uri="{BB962C8B-B14F-4D97-AF65-F5344CB8AC3E}">
        <p14:creationId xmlns:p14="http://schemas.microsoft.com/office/powerpoint/2010/main" val="14145768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BAD0F-10B7-4E8C-93FD-8FD834347409}"/>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33C5ED9E-96E6-4C2F-B973-257A9E471140}"/>
              </a:ext>
            </a:extLst>
          </p:cNvPr>
          <p:cNvSpPr>
            <a:spLocks noGrp="1"/>
          </p:cNvSpPr>
          <p:nvPr>
            <p:ph idx="1"/>
          </p:nvPr>
        </p:nvSpPr>
        <p:spPr/>
        <p:txBody>
          <a:bodyPr/>
          <a:lstStyle/>
          <a:p>
            <a:r>
              <a:rPr lang="en-US" dirty="0"/>
              <a:t>Nuclear</a:t>
            </a:r>
          </a:p>
          <a:p>
            <a:pPr lvl="1"/>
            <a:r>
              <a:rPr lang="en-US" dirty="0"/>
              <a:t>Human-System Interface Design Review Guidelines (NUREG-0700, Revision 2) </a:t>
            </a:r>
          </a:p>
          <a:p>
            <a:pPr lvl="1"/>
            <a:r>
              <a:rPr lang="en-US" dirty="0"/>
              <a:t>Human Factors Engineering Program Review Model (NUREG-0711, Revision 3) </a:t>
            </a:r>
          </a:p>
          <a:p>
            <a:r>
              <a:rPr lang="en-US" dirty="0"/>
              <a:t>Military</a:t>
            </a:r>
          </a:p>
          <a:p>
            <a:pPr lvl="1"/>
            <a:r>
              <a:rPr lang="en-US" dirty="0"/>
              <a:t>Mil-std-1472 G Design Criteria Human Engineering</a:t>
            </a:r>
          </a:p>
          <a:p>
            <a:r>
              <a:rPr lang="en-US" dirty="0"/>
              <a:t>ISO</a:t>
            </a:r>
          </a:p>
          <a:p>
            <a:pPr lvl="1"/>
            <a:r>
              <a:rPr lang="en-US" dirty="0"/>
              <a:t>ISO/TR 16982:2002 Ergonomics of human-system interaction -- Usability methods supporting human-</a:t>
            </a:r>
            <a:r>
              <a:rPr lang="en-US" dirty="0" err="1"/>
              <a:t>centred</a:t>
            </a:r>
            <a:r>
              <a:rPr lang="en-US" dirty="0"/>
              <a:t> design</a:t>
            </a:r>
          </a:p>
        </p:txBody>
      </p:sp>
    </p:spTree>
    <p:extLst>
      <p:ext uri="{BB962C8B-B14F-4D97-AF65-F5344CB8AC3E}">
        <p14:creationId xmlns:p14="http://schemas.microsoft.com/office/powerpoint/2010/main" val="1876295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1762</Words>
  <Application>Microsoft Office PowerPoint</Application>
  <PresentationFormat>Widescreen</PresentationFormat>
  <Paragraphs>300</Paragraphs>
  <Slides>78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Aptos</vt:lpstr>
      <vt:lpstr>Aptos Display</vt:lpstr>
      <vt:lpstr>Arial</vt:lpstr>
      <vt:lpstr>Cambria Math</vt:lpstr>
      <vt:lpstr>Office Theme</vt:lpstr>
      <vt:lpstr>PowerPoint Presentation</vt:lpstr>
      <vt:lpstr>Cognition: Baddeley’s working memory model</vt:lpstr>
      <vt:lpstr>Vision</vt:lpstr>
      <vt:lpstr>PowerPoint Presentation</vt:lpstr>
      <vt:lpstr>PowerPoint Presentation</vt:lpstr>
      <vt:lpstr>PowerPoint Presentation</vt:lpstr>
      <vt:lpstr>PowerPoint Presentation</vt:lpstr>
      <vt:lpstr>Foveal vs. Peripheral Vision</vt:lpstr>
      <vt:lpstr>PowerPoint Presentation</vt:lpstr>
      <vt:lpstr>PowerPoint Presentation</vt:lpstr>
      <vt:lpstr>How does this work?</vt:lpstr>
      <vt:lpstr>PowerPoint Presentation</vt:lpstr>
      <vt:lpstr>Illusory Contours</vt:lpstr>
      <vt:lpstr>Good Continuation</vt:lpstr>
      <vt:lpstr>Pragnanz (Good Figure) </vt:lpstr>
      <vt:lpstr>Pragnanz (Good Figure) </vt:lpstr>
      <vt:lpstr>Gestalt Principles - Proximity</vt:lpstr>
      <vt:lpstr>Gestalt Principles – Common Region</vt:lpstr>
      <vt:lpstr>Gestalt Principles – Connectedness</vt:lpstr>
      <vt:lpstr>PowerPoint Presentation</vt:lpstr>
      <vt:lpstr>PowerPoint Presentation</vt:lpstr>
      <vt:lpstr>PowerPoint Presentation</vt:lpstr>
      <vt:lpstr>PowerPoint Presentation</vt:lpstr>
      <vt:lpstr>PowerPoint Presentation</vt:lpstr>
      <vt:lpstr>PowerPoint Presentation</vt:lpstr>
      <vt:lpstr>Change Blindness</vt:lpstr>
      <vt:lpstr>PowerPoint Presentation</vt:lpstr>
      <vt:lpstr>Summary</vt:lpstr>
      <vt:lpstr>Design is Theory Working Backwards</vt:lpstr>
      <vt:lpstr>Global (Holistic) Processing</vt:lpstr>
      <vt:lpstr>Typographic Grid</vt:lpstr>
      <vt:lpstr>Global vs. Local Processing</vt:lpstr>
      <vt:lpstr>PowerPoint Presentation</vt:lpstr>
      <vt:lpstr>Salience</vt:lpstr>
      <vt:lpstr>PowerPoint Presentation</vt:lpstr>
      <vt:lpstr>PowerPoint Presentation</vt:lpstr>
      <vt:lpstr>Object Displays</vt:lpstr>
      <vt:lpstr>Steven’s Power Law</vt:lpstr>
      <vt:lpstr>Human Factors General Principles</vt:lpstr>
      <vt:lpstr>Affordances</vt:lpstr>
      <vt:lpstr>Extends to Digital Interfaces</vt:lpstr>
      <vt:lpstr>(Nielsen,) Jakob’s Law</vt:lpstr>
      <vt:lpstr>Provide Feedback</vt:lpstr>
      <vt:lpstr>Doherty Threshold </vt:lpstr>
      <vt:lpstr>Fitts’ Law (1954)</vt:lpstr>
      <vt:lpstr>PowerPoint Presentation</vt:lpstr>
      <vt:lpstr>PowerPoint Presentation</vt:lpstr>
      <vt:lpstr>PowerPoint Presentation</vt:lpstr>
      <vt:lpstr>Steven’s Power Law</vt:lpstr>
      <vt:lpstr>Hick’s Law</vt:lpstr>
      <vt:lpstr>Yerkes–Dodson law</vt:lpstr>
      <vt:lpstr>Yerkes–Dodson law</vt:lpstr>
      <vt:lpstr>Vigilance Decrement</vt:lpstr>
      <vt:lpstr>James Reason’s Swiss cheese model</vt:lpstr>
      <vt:lpstr>Aesthetic Usability Effect</vt:lpstr>
      <vt:lpstr>Displaying Information</vt:lpstr>
      <vt:lpstr>Data vs. Information</vt:lpstr>
      <vt:lpstr>Task Taxonomies</vt:lpstr>
      <vt:lpstr>PowerPoint Presentation</vt:lpstr>
      <vt:lpstr>How</vt:lpstr>
      <vt:lpstr>PowerPoint Presentation</vt:lpstr>
      <vt:lpstr>                                   Data Ink Data to Ink Ratio =                                    Total Ink</vt:lpstr>
      <vt:lpstr>PowerPoint Presentation</vt:lpstr>
      <vt:lpstr>Tip: Provide Context to Data</vt:lpstr>
      <vt:lpstr>PowerPoint Presentation</vt:lpstr>
      <vt:lpstr>Information Capacity for Absolute Judgements</vt:lpstr>
      <vt:lpstr>Information Capacity</vt:lpstr>
      <vt:lpstr>Applications of Object-Based Processing</vt:lpstr>
      <vt:lpstr>Pictorial realism</vt:lpstr>
      <vt:lpstr>Compatibility of Display Movement </vt:lpstr>
      <vt:lpstr>PowerPoint Presentation</vt:lpstr>
      <vt:lpstr>PowerPoint Presentation</vt:lpstr>
      <vt:lpstr>Process Control / Critical Infrastructure</vt:lpstr>
      <vt:lpstr>PowerPoint Presentation</vt:lpstr>
      <vt:lpstr>High Performance HMIs</vt:lpstr>
      <vt:lpstr>PowerPoint Presentation</vt:lpstr>
      <vt:lpstr>Good Alarm Management</vt:lpstr>
      <vt:lpstr>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Roger Lew</dc:creator>
  <cp:lastModifiedBy>Roger Lew</cp:lastModifiedBy>
  <cp:revision>1</cp:revision>
  <dcterms:created xsi:type="dcterms:W3CDTF">2025-01-28T21:29:10Z</dcterms:created>
  <dcterms:modified xsi:type="dcterms:W3CDTF">2025-01-28T21:54:57Z</dcterms:modified>
</cp:coreProperties>
</file>